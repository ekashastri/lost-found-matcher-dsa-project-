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2" r:id="rId3"/>
    <p:sldId id="257" r:id="rId4"/>
    <p:sldId id="258" r:id="rId5"/>
    <p:sldId id="259" r:id="rId6"/>
    <p:sldId id="260" r:id="rId7"/>
    <p:sldId id="261" r:id="rId8"/>
    <p:sldId id="272" r:id="rId9"/>
    <p:sldId id="262" r:id="rId10"/>
    <p:sldId id="263" r:id="rId11"/>
    <p:sldId id="264" r:id="rId12"/>
    <p:sldId id="265" r:id="rId13"/>
    <p:sldId id="266" r:id="rId14"/>
    <p:sldId id="267" r:id="rId15"/>
    <p:sldId id="268" r:id="rId16"/>
    <p:sldId id="269" r:id="rId17"/>
    <p:sldId id="270" r:id="rId18"/>
    <p:sldId id="273" r:id="rId19"/>
    <p:sldId id="274" r:id="rId20"/>
    <p:sldId id="275" r:id="rId21"/>
    <p:sldId id="276" r:id="rId22"/>
    <p:sldId id="277" r:id="rId23"/>
    <p:sldId id="278" r:id="rId24"/>
    <p:sldId id="279" r:id="rId25"/>
    <p:sldId id="280" r:id="rId26"/>
    <p:sldId id="28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6" autoAdjust="0"/>
    <p:restoredTop sz="94660"/>
  </p:normalViewPr>
  <p:slideViewPr>
    <p:cSldViewPr snapToGrid="0" snapToObjects="1">
      <p:cViewPr varScale="1">
        <p:scale>
          <a:sx n="78" d="100"/>
          <a:sy n="78" d="100"/>
        </p:scale>
        <p:origin x="965"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685800" y="1051560"/>
            <a:ext cx="10835640" cy="1005840"/>
          </a:xfrm>
          <a:prstGeom prst="rect">
            <a:avLst/>
          </a:prstGeom>
          <a:noFill/>
        </p:spPr>
        <p:txBody>
          <a:bodyPr wrap="none">
            <a:spAutoFit/>
          </a:bodyPr>
          <a:lstStyle/>
          <a:p>
            <a:pPr algn="ctr">
              <a:defRPr sz="3500" b="1">
                <a:solidFill>
                  <a:srgbClr val="1C3058"/>
                </a:solidFill>
              </a:defRPr>
            </a:pPr>
            <a:r>
              <a:t>CAMPUS LOST &amp; FOUND MATCHER</a:t>
            </a:r>
          </a:p>
        </p:txBody>
      </p:sp>
      <p:sp>
        <p:nvSpPr>
          <p:cNvPr id="3" name="TextBox 2"/>
          <p:cNvSpPr txBox="1"/>
          <p:nvPr/>
        </p:nvSpPr>
        <p:spPr>
          <a:xfrm>
            <a:off x="1062388" y="2148840"/>
            <a:ext cx="10056407" cy="707886"/>
          </a:xfrm>
          <a:prstGeom prst="rect">
            <a:avLst/>
          </a:prstGeom>
          <a:noFill/>
        </p:spPr>
        <p:txBody>
          <a:bodyPr wrap="none">
            <a:spAutoFit/>
          </a:bodyPr>
          <a:lstStyle/>
          <a:p>
            <a:pPr algn="ctr">
              <a:defRPr sz="2000">
                <a:solidFill>
                  <a:srgbClr val="5B626E"/>
                </a:solidFill>
              </a:defRPr>
            </a:pPr>
            <a:r>
              <a:rPr dirty="0"/>
              <a:t>Data Structures &amp; Algorithms Project</a:t>
            </a:r>
            <a:endParaRPr lang="en-IN" dirty="0"/>
          </a:p>
          <a:p>
            <a:pPr algn="ctr">
              <a:defRPr sz="2000">
                <a:solidFill>
                  <a:srgbClr val="5B626E"/>
                </a:solidFill>
              </a:defRPr>
            </a:pPr>
            <a:r>
              <a:rPr lang="en-IN" dirty="0"/>
              <a:t>Git Repository - https://github.com/ekashastri/Lost-Found-Matcher-DSA-Project-/upload/main</a:t>
            </a:r>
            <a:endParaRPr dirty="0"/>
          </a:p>
        </p:txBody>
      </p:sp>
      <p:sp>
        <p:nvSpPr>
          <p:cNvPr id="4" name="Rounded Rectangle 3"/>
          <p:cNvSpPr/>
          <p:nvPr/>
        </p:nvSpPr>
        <p:spPr>
          <a:xfrm>
            <a:off x="685800" y="3154680"/>
            <a:ext cx="2468880" cy="132588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264408"/>
            <a:ext cx="2194560" cy="1143000"/>
          </a:xfrm>
          <a:prstGeom prst="rect">
            <a:avLst/>
          </a:prstGeom>
          <a:noFill/>
        </p:spPr>
        <p:txBody>
          <a:bodyPr wrap="square">
            <a:spAutoFit/>
          </a:bodyPr>
          <a:lstStyle/>
          <a:p>
            <a:pPr>
              <a:defRPr sz="1700" b="1">
                <a:solidFill>
                  <a:srgbClr val="3766AA"/>
                </a:solidFill>
              </a:defRPr>
            </a:pPr>
            <a:r>
              <a:t>Singly Linked List</a:t>
            </a:r>
          </a:p>
          <a:p>
            <a:pPr>
              <a:spcBef>
                <a:spcPts val="600"/>
              </a:spcBef>
              <a:defRPr sz="1350">
                <a:solidFill>
                  <a:srgbClr val="2B2F37"/>
                </a:solidFill>
              </a:defRPr>
            </a:pPr>
            <a:r>
              <a:t>Dynamic record storage</a:t>
            </a:r>
          </a:p>
        </p:txBody>
      </p:sp>
      <p:sp>
        <p:nvSpPr>
          <p:cNvPr id="6" name="Rounded Rectangle 5"/>
          <p:cNvSpPr/>
          <p:nvPr/>
        </p:nvSpPr>
        <p:spPr>
          <a:xfrm>
            <a:off x="3474720" y="3154680"/>
            <a:ext cx="2468880" cy="132588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11879" y="3264408"/>
            <a:ext cx="2194560" cy="1143000"/>
          </a:xfrm>
          <a:prstGeom prst="rect">
            <a:avLst/>
          </a:prstGeom>
          <a:noFill/>
        </p:spPr>
        <p:txBody>
          <a:bodyPr wrap="square">
            <a:spAutoFit/>
          </a:bodyPr>
          <a:lstStyle/>
          <a:p>
            <a:pPr>
              <a:defRPr sz="1700" b="1">
                <a:solidFill>
                  <a:srgbClr val="3766AA"/>
                </a:solidFill>
              </a:defRPr>
            </a:pPr>
            <a:r>
              <a:t>Hash Table</a:t>
            </a:r>
          </a:p>
          <a:p>
            <a:pPr>
              <a:spcBef>
                <a:spcPts val="600"/>
              </a:spcBef>
              <a:defRPr sz="1350">
                <a:solidFill>
                  <a:srgbClr val="2B2F37"/>
                </a:solidFill>
              </a:defRPr>
            </a:pPr>
            <a:r>
              <a:t>Fast ID lookup</a:t>
            </a:r>
          </a:p>
        </p:txBody>
      </p:sp>
      <p:sp>
        <p:nvSpPr>
          <p:cNvPr id="8" name="Rounded Rectangle 7"/>
          <p:cNvSpPr/>
          <p:nvPr/>
        </p:nvSpPr>
        <p:spPr>
          <a:xfrm>
            <a:off x="6263640" y="3154680"/>
            <a:ext cx="2468880" cy="132588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3264408"/>
            <a:ext cx="2194560" cy="1143000"/>
          </a:xfrm>
          <a:prstGeom prst="rect">
            <a:avLst/>
          </a:prstGeom>
          <a:noFill/>
        </p:spPr>
        <p:txBody>
          <a:bodyPr wrap="square">
            <a:spAutoFit/>
          </a:bodyPr>
          <a:lstStyle/>
          <a:p>
            <a:pPr>
              <a:defRPr sz="1700" b="1">
                <a:solidFill>
                  <a:srgbClr val="3766AA"/>
                </a:solidFill>
              </a:defRPr>
            </a:pPr>
            <a:r>
              <a:t>Searching</a:t>
            </a:r>
          </a:p>
          <a:p>
            <a:pPr>
              <a:spcBef>
                <a:spcPts val="600"/>
              </a:spcBef>
              <a:defRPr sz="1350">
                <a:solidFill>
                  <a:srgbClr val="2B2F37"/>
                </a:solidFill>
              </a:defRPr>
            </a:pPr>
            <a:r>
              <a:t>ID + text-field search</a:t>
            </a:r>
          </a:p>
        </p:txBody>
      </p:sp>
      <p:sp>
        <p:nvSpPr>
          <p:cNvPr id="10" name="Rounded Rectangle 9"/>
          <p:cNvSpPr/>
          <p:nvPr/>
        </p:nvSpPr>
        <p:spPr>
          <a:xfrm>
            <a:off x="9052559" y="3154680"/>
            <a:ext cx="2468880" cy="132588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89719" y="3264408"/>
            <a:ext cx="2194560" cy="1143000"/>
          </a:xfrm>
          <a:prstGeom prst="rect">
            <a:avLst/>
          </a:prstGeom>
          <a:noFill/>
        </p:spPr>
        <p:txBody>
          <a:bodyPr wrap="square">
            <a:spAutoFit/>
          </a:bodyPr>
          <a:lstStyle/>
          <a:p>
            <a:pPr>
              <a:defRPr sz="1700" b="1">
                <a:solidFill>
                  <a:srgbClr val="3766AA"/>
                </a:solidFill>
              </a:defRPr>
            </a:pPr>
            <a:r>
              <a:t>Matching + Files</a:t>
            </a:r>
          </a:p>
          <a:p>
            <a:pPr>
              <a:spcBef>
                <a:spcPts val="600"/>
              </a:spcBef>
              <a:defRPr sz="1350">
                <a:solidFill>
                  <a:srgbClr val="2B2F37"/>
                </a:solidFill>
              </a:defRPr>
            </a:pPr>
            <a:r>
              <a:t>Rule-based matching + persistence</a:t>
            </a:r>
          </a:p>
        </p:txBody>
      </p:sp>
      <p:sp>
        <p:nvSpPr>
          <p:cNvPr id="12" name="TextBox 11"/>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1</a:t>
            </a:r>
          </a:p>
        </p:txBody>
      </p:sp>
      <p:sp>
        <p:nvSpPr>
          <p:cNvPr id="14" name="TextBox 13">
            <a:extLst>
              <a:ext uri="{FF2B5EF4-FFF2-40B4-BE49-F238E27FC236}">
                <a16:creationId xmlns:a16="http://schemas.microsoft.com/office/drawing/2014/main" id="{E3BC11E2-20BB-C74E-E96F-BF0290360A32}"/>
              </a:ext>
            </a:extLst>
          </p:cNvPr>
          <p:cNvSpPr txBox="1"/>
          <p:nvPr/>
        </p:nvSpPr>
        <p:spPr>
          <a:xfrm>
            <a:off x="2759630" y="4916120"/>
            <a:ext cx="6093618" cy="1323439"/>
          </a:xfrm>
          <a:prstGeom prst="rect">
            <a:avLst/>
          </a:prstGeom>
          <a:noFill/>
        </p:spPr>
        <p:txBody>
          <a:bodyPr wrap="square">
            <a:spAutoFit/>
          </a:bodyPr>
          <a:lstStyle/>
          <a:p>
            <a:pPr algn="ctr">
              <a:defRPr sz="2000">
                <a:solidFill>
                  <a:srgbClr val="5B626E"/>
                </a:solidFill>
              </a:defRPr>
            </a:pPr>
            <a:r>
              <a:rPr lang="en-IN" sz="2000" dirty="0"/>
              <a:t>Made by :-</a:t>
            </a:r>
          </a:p>
          <a:p>
            <a:pPr algn="ctr">
              <a:defRPr sz="2000">
                <a:solidFill>
                  <a:srgbClr val="5B626E"/>
                </a:solidFill>
              </a:defRPr>
            </a:pPr>
            <a:r>
              <a:rPr lang="en-IN" sz="2000" dirty="0"/>
              <a:t>Eka Shastri </a:t>
            </a:r>
          </a:p>
          <a:p>
            <a:pPr algn="ctr">
              <a:defRPr sz="2000">
                <a:solidFill>
                  <a:srgbClr val="5B626E"/>
                </a:solidFill>
              </a:defRPr>
            </a:pPr>
            <a:r>
              <a:rPr lang="en-IN" sz="2000" dirty="0"/>
              <a:t>Anandi Bardia </a:t>
            </a:r>
          </a:p>
          <a:p>
            <a:pPr algn="ctr">
              <a:defRPr sz="2000">
                <a:solidFill>
                  <a:srgbClr val="5B626E"/>
                </a:solidFill>
              </a:defRPr>
            </a:pPr>
            <a:r>
              <a:rPr lang="en-IN" sz="2000" dirty="0"/>
              <a:t>Rehanshi Kinge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49808" y="429768"/>
            <a:ext cx="3745321" cy="507831"/>
          </a:xfrm>
          <a:prstGeom prst="rect">
            <a:avLst/>
          </a:prstGeom>
          <a:noFill/>
        </p:spPr>
        <p:txBody>
          <a:bodyPr wrap="none">
            <a:spAutoFit/>
          </a:bodyPr>
          <a:lstStyle/>
          <a:p>
            <a:pPr>
              <a:defRPr sz="2700" b="1">
                <a:solidFill>
                  <a:srgbClr val="19273A"/>
                </a:solidFill>
                <a:latin typeface="Aptos Display"/>
              </a:defRPr>
            </a:pPr>
            <a:r>
              <a:rPr dirty="0"/>
              <a:t>Starting Program Output</a:t>
            </a:r>
          </a:p>
        </p:txBody>
      </p:sp>
      <p:sp>
        <p:nvSpPr>
          <p:cNvPr id="3" name="TextBox 2"/>
          <p:cNvSpPr txBox="1"/>
          <p:nvPr/>
        </p:nvSpPr>
        <p:spPr>
          <a:xfrm>
            <a:off x="777240" y="978408"/>
            <a:ext cx="10789920" cy="365760"/>
          </a:xfrm>
          <a:prstGeom prst="rect">
            <a:avLst/>
          </a:prstGeom>
          <a:noFill/>
        </p:spPr>
        <p:txBody>
          <a:bodyPr wrap="none">
            <a:spAutoFit/>
          </a:bodyPr>
          <a:lstStyle/>
          <a:p>
            <a:pPr>
              <a:defRPr sz="1100">
                <a:solidFill>
                  <a:srgbClr val="5A6473"/>
                </a:solidFill>
              </a:defRPr>
            </a:pPr>
            <a:r>
              <a:t>Initial screen shown when the Campus Lost &amp; Found Matcher starts</a:t>
            </a:r>
          </a:p>
        </p:txBody>
      </p:sp>
      <p:sp>
        <p:nvSpPr>
          <p:cNvPr id="4" name="Rounded Rectangle 3"/>
          <p:cNvSpPr/>
          <p:nvPr/>
        </p:nvSpPr>
        <p:spPr>
          <a:xfrm>
            <a:off x="749808" y="1481328"/>
            <a:ext cx="3749039" cy="4800600"/>
          </a:xfrm>
          <a:prstGeom prst="roundRect">
            <a:avLst/>
          </a:prstGeom>
          <a:solidFill>
            <a:srgbClr val="F8FAFC"/>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96696" y="1709928"/>
            <a:ext cx="3246120" cy="2718693"/>
          </a:xfrm>
          <a:prstGeom prst="rect">
            <a:avLst/>
          </a:prstGeom>
          <a:noFill/>
        </p:spPr>
        <p:txBody>
          <a:bodyPr wrap="square">
            <a:spAutoFit/>
          </a:bodyPr>
          <a:lstStyle/>
          <a:p>
            <a:pPr>
              <a:spcAft>
                <a:spcPts val="200"/>
              </a:spcAft>
              <a:defRPr sz="1019" b="0">
                <a:solidFill>
                  <a:srgbClr val="2D3741"/>
                </a:solidFill>
                <a:latin typeface="Aptos"/>
              </a:defRPr>
            </a:pPr>
            <a:endParaRPr sz="1400" dirty="0"/>
          </a:p>
          <a:p>
            <a:pPr>
              <a:spcAft>
                <a:spcPts val="200"/>
              </a:spcAft>
              <a:defRPr sz="1300" b="1">
                <a:solidFill>
                  <a:srgbClr val="2563EB"/>
                </a:solidFill>
                <a:latin typeface="Aptos"/>
              </a:defRPr>
            </a:pPr>
            <a:r>
              <a:rPr sz="1400" dirty="0"/>
              <a:t>Main menu options:</a:t>
            </a:r>
          </a:p>
          <a:p>
            <a:pPr>
              <a:spcAft>
                <a:spcPts val="200"/>
              </a:spcAft>
              <a:defRPr sz="1019" b="0">
                <a:solidFill>
                  <a:srgbClr val="2D3741"/>
                </a:solidFill>
                <a:latin typeface="Aptos"/>
              </a:defRPr>
            </a:pPr>
            <a:r>
              <a:rPr sz="1400" dirty="0"/>
              <a:t>1. Report Lost Item</a:t>
            </a:r>
          </a:p>
          <a:p>
            <a:pPr>
              <a:spcAft>
                <a:spcPts val="200"/>
              </a:spcAft>
              <a:defRPr sz="1019" b="0">
                <a:solidFill>
                  <a:srgbClr val="2D3741"/>
                </a:solidFill>
                <a:latin typeface="Aptos"/>
              </a:defRPr>
            </a:pPr>
            <a:r>
              <a:rPr sz="1400" dirty="0"/>
              <a:t>2. Report Found Item</a:t>
            </a:r>
          </a:p>
          <a:p>
            <a:pPr>
              <a:spcAft>
                <a:spcPts val="200"/>
              </a:spcAft>
              <a:defRPr sz="1019" b="0">
                <a:solidFill>
                  <a:srgbClr val="2D3741"/>
                </a:solidFill>
                <a:latin typeface="Aptos"/>
              </a:defRPr>
            </a:pPr>
            <a:r>
              <a:rPr sz="1400" dirty="0"/>
              <a:t>3. View Lost Items</a:t>
            </a:r>
          </a:p>
          <a:p>
            <a:pPr>
              <a:spcAft>
                <a:spcPts val="200"/>
              </a:spcAft>
              <a:defRPr sz="1019" b="0">
                <a:solidFill>
                  <a:srgbClr val="2D3741"/>
                </a:solidFill>
                <a:latin typeface="Aptos"/>
              </a:defRPr>
            </a:pPr>
            <a:r>
              <a:rPr sz="1400" dirty="0"/>
              <a:t>4. View Found Items</a:t>
            </a:r>
          </a:p>
          <a:p>
            <a:pPr>
              <a:spcAft>
                <a:spcPts val="200"/>
              </a:spcAft>
              <a:defRPr sz="1019" b="0">
                <a:solidFill>
                  <a:srgbClr val="2D3741"/>
                </a:solidFill>
                <a:latin typeface="Aptos"/>
              </a:defRPr>
            </a:pPr>
            <a:r>
              <a:rPr sz="1400" dirty="0"/>
              <a:t>5. Search Item</a:t>
            </a:r>
          </a:p>
          <a:p>
            <a:pPr>
              <a:spcAft>
                <a:spcPts val="200"/>
              </a:spcAft>
              <a:defRPr sz="1019" b="0">
                <a:solidFill>
                  <a:srgbClr val="2D3741"/>
                </a:solidFill>
                <a:latin typeface="Aptos"/>
              </a:defRPr>
            </a:pPr>
            <a:r>
              <a:rPr sz="1400" dirty="0"/>
              <a:t>6. Find Possible Match</a:t>
            </a:r>
          </a:p>
          <a:p>
            <a:pPr>
              <a:spcAft>
                <a:spcPts val="200"/>
              </a:spcAft>
              <a:defRPr sz="1019" b="0">
                <a:solidFill>
                  <a:srgbClr val="2D3741"/>
                </a:solidFill>
                <a:latin typeface="Aptos"/>
              </a:defRPr>
            </a:pPr>
            <a:r>
              <a:rPr sz="1400" dirty="0"/>
              <a:t>7. Resolve Item</a:t>
            </a:r>
          </a:p>
          <a:p>
            <a:pPr>
              <a:spcAft>
                <a:spcPts val="200"/>
              </a:spcAft>
              <a:defRPr sz="1019" b="0">
                <a:solidFill>
                  <a:srgbClr val="2D3741"/>
                </a:solidFill>
                <a:latin typeface="Aptos"/>
              </a:defRPr>
            </a:pPr>
            <a:r>
              <a:rPr sz="1400" dirty="0"/>
              <a:t>8. View Statistics</a:t>
            </a:r>
          </a:p>
          <a:p>
            <a:pPr>
              <a:spcAft>
                <a:spcPts val="200"/>
              </a:spcAft>
              <a:defRPr sz="1019" b="0">
                <a:solidFill>
                  <a:srgbClr val="2D3741"/>
                </a:solidFill>
                <a:latin typeface="Aptos"/>
              </a:defRPr>
            </a:pPr>
            <a:r>
              <a:rPr sz="1400" dirty="0"/>
              <a:t>0. Exit</a:t>
            </a:r>
          </a:p>
        </p:txBody>
      </p:sp>
      <p:sp>
        <p:nvSpPr>
          <p:cNvPr id="6" name="Rounded Rectangle 5"/>
          <p:cNvSpPr/>
          <p:nvPr/>
        </p:nvSpPr>
        <p:spPr>
          <a:xfrm>
            <a:off x="4773168" y="1481328"/>
            <a:ext cx="7132320" cy="4800600"/>
          </a:xfrm>
          <a:prstGeom prst="roundRect">
            <a:avLst/>
          </a:prstGeom>
          <a:solidFill>
            <a:srgbClr val="F5F7FA"/>
          </a:solidFill>
          <a:ln w="19050">
            <a:solidFill>
              <a:srgbClr val="96A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a:extLst>
              <a:ext uri="{FF2B5EF4-FFF2-40B4-BE49-F238E27FC236}">
                <a16:creationId xmlns:a16="http://schemas.microsoft.com/office/drawing/2014/main" id="{43213FCB-3FFE-F30B-45BF-3644CE051E5C}"/>
              </a:ext>
            </a:extLst>
          </p:cNvPr>
          <p:cNvPicPr>
            <a:picLocks noChangeAspect="1"/>
          </p:cNvPicPr>
          <p:nvPr/>
        </p:nvPicPr>
        <p:blipFill>
          <a:blip r:embed="rId2"/>
          <a:stretch>
            <a:fillRect/>
          </a:stretch>
        </p:blipFill>
        <p:spPr>
          <a:xfrm>
            <a:off x="5644896" y="1645818"/>
            <a:ext cx="5550408" cy="44716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1525475" y="480060"/>
            <a:ext cx="11064240" cy="594360"/>
          </a:xfrm>
          <a:prstGeom prst="rect">
            <a:avLst/>
          </a:prstGeom>
          <a:noFill/>
        </p:spPr>
        <p:txBody>
          <a:bodyPr wrap="none">
            <a:spAutoFit/>
          </a:bodyPr>
          <a:lstStyle/>
          <a:p>
            <a:pPr>
              <a:defRPr sz="2700" b="1">
                <a:solidFill>
                  <a:srgbClr val="1C3058"/>
                </a:solidFill>
              </a:defRPr>
            </a:pPr>
            <a:r>
              <a:rPr dirty="0"/>
              <a:t>1. Problem Statement &amp; Objective</a:t>
            </a:r>
          </a:p>
        </p:txBody>
      </p:sp>
      <p:sp>
        <p:nvSpPr>
          <p:cNvPr id="3" name="TextBox 2"/>
          <p:cNvSpPr txBox="1"/>
          <p:nvPr/>
        </p:nvSpPr>
        <p:spPr>
          <a:xfrm>
            <a:off x="1289009" y="1981200"/>
            <a:ext cx="10789920" cy="4892040"/>
          </a:xfrm>
          <a:prstGeom prst="rect">
            <a:avLst/>
          </a:prstGeom>
          <a:noFill/>
        </p:spPr>
        <p:txBody>
          <a:bodyPr wrap="square">
            <a:spAutoFit/>
          </a:bodyPr>
          <a:lstStyle/>
          <a:p>
            <a:pPr>
              <a:spcAft>
                <a:spcPts val="1000"/>
              </a:spcAft>
              <a:defRPr sz="1800">
                <a:solidFill>
                  <a:srgbClr val="2B2F37"/>
                </a:solidFill>
              </a:defRPr>
            </a:pPr>
            <a:r>
              <a:rPr dirty="0"/>
              <a:t>Campus lost-and-found records are difficult to manage when they are stored manually.</a:t>
            </a:r>
          </a:p>
          <a:p>
            <a:pPr>
              <a:spcAft>
                <a:spcPts val="1000"/>
              </a:spcAft>
              <a:defRPr sz="1800">
                <a:solidFill>
                  <a:srgbClr val="2B2F37"/>
                </a:solidFill>
              </a:defRPr>
            </a:pPr>
            <a:r>
              <a:rPr dirty="0"/>
              <a:t>The system maintains two categories of records: Lost Items and Found Items.</a:t>
            </a:r>
          </a:p>
          <a:p>
            <a:pPr>
              <a:spcAft>
                <a:spcPts val="1000"/>
              </a:spcAft>
              <a:defRPr sz="1800">
                <a:solidFill>
                  <a:srgbClr val="2B2F37"/>
                </a:solidFill>
              </a:defRPr>
            </a:pPr>
            <a:r>
              <a:rPr dirty="0"/>
              <a:t>Users can add, view and search records using multiple attributes.</a:t>
            </a:r>
          </a:p>
          <a:p>
            <a:pPr>
              <a:spcAft>
                <a:spcPts val="1000"/>
              </a:spcAft>
              <a:defRPr sz="1800">
                <a:solidFill>
                  <a:srgbClr val="2B2F37"/>
                </a:solidFill>
              </a:defRPr>
            </a:pPr>
            <a:r>
              <a:rPr dirty="0"/>
              <a:t>The program compares lost and found records to identify possible matches.</a:t>
            </a:r>
          </a:p>
          <a:p>
            <a:pPr>
              <a:spcAft>
                <a:spcPts val="1000"/>
              </a:spcAft>
              <a:defRPr sz="1800">
                <a:solidFill>
                  <a:srgbClr val="2B2F37"/>
                </a:solidFill>
              </a:defRPr>
            </a:pPr>
            <a:r>
              <a:rPr dirty="0"/>
              <a:t>Text files preserve the records after the program closes.</a:t>
            </a:r>
          </a:p>
        </p:txBody>
      </p:sp>
      <p:sp>
        <p:nvSpPr>
          <p:cNvPr id="4" name="TextBox 3"/>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854612" y="333756"/>
            <a:ext cx="11064240" cy="594360"/>
          </a:xfrm>
          <a:prstGeom prst="rect">
            <a:avLst/>
          </a:prstGeom>
          <a:noFill/>
        </p:spPr>
        <p:txBody>
          <a:bodyPr wrap="none">
            <a:spAutoFit/>
          </a:bodyPr>
          <a:lstStyle/>
          <a:p>
            <a:pPr>
              <a:defRPr sz="2700" b="1">
                <a:solidFill>
                  <a:srgbClr val="1C3058"/>
                </a:solidFill>
              </a:defRPr>
            </a:pPr>
            <a:r>
              <a:rPr dirty="0"/>
              <a:t>2. Overall Architecture</a:t>
            </a:r>
          </a:p>
        </p:txBody>
      </p:sp>
      <p:sp>
        <p:nvSpPr>
          <p:cNvPr id="3" name="TextBox 2"/>
          <p:cNvSpPr txBox="1"/>
          <p:nvPr/>
        </p:nvSpPr>
        <p:spPr>
          <a:xfrm>
            <a:off x="1645720" y="859536"/>
            <a:ext cx="10972800" cy="320040"/>
          </a:xfrm>
          <a:prstGeom prst="rect">
            <a:avLst/>
          </a:prstGeom>
          <a:noFill/>
        </p:spPr>
        <p:txBody>
          <a:bodyPr wrap="none">
            <a:spAutoFit/>
          </a:bodyPr>
          <a:lstStyle/>
          <a:p>
            <a:pPr>
              <a:defRPr sz="1250">
                <a:solidFill>
                  <a:srgbClr val="5B626E"/>
                </a:solidFill>
              </a:defRPr>
            </a:pPr>
            <a:r>
              <a:rPr dirty="0"/>
              <a:t>How the components communicate</a:t>
            </a:r>
          </a:p>
        </p:txBody>
      </p:sp>
      <p:sp>
        <p:nvSpPr>
          <p:cNvPr id="4" name="Rounded Rectangle 3"/>
          <p:cNvSpPr/>
          <p:nvPr/>
        </p:nvSpPr>
        <p:spPr>
          <a:xfrm>
            <a:off x="502920" y="1417320"/>
            <a:ext cx="1645920" cy="12344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27048"/>
            <a:ext cx="1371600" cy="1051560"/>
          </a:xfrm>
          <a:prstGeom prst="rect">
            <a:avLst/>
          </a:prstGeom>
          <a:noFill/>
        </p:spPr>
        <p:txBody>
          <a:bodyPr wrap="square">
            <a:spAutoFit/>
          </a:bodyPr>
          <a:lstStyle/>
          <a:p>
            <a:pPr>
              <a:defRPr sz="1700" b="1">
                <a:solidFill>
                  <a:srgbClr val="3766AA"/>
                </a:solidFill>
              </a:defRPr>
            </a:pPr>
            <a:r>
              <a:t>User</a:t>
            </a:r>
          </a:p>
          <a:p>
            <a:pPr>
              <a:spcBef>
                <a:spcPts val="600"/>
              </a:spcBef>
              <a:defRPr sz="1350">
                <a:solidFill>
                  <a:srgbClr val="2B2F37"/>
                </a:solidFill>
              </a:defRPr>
            </a:pPr>
            <a:r>
              <a:t>Input / Menu</a:t>
            </a:r>
          </a:p>
        </p:txBody>
      </p:sp>
      <p:sp>
        <p:nvSpPr>
          <p:cNvPr id="6" name="Rounded Rectangle 5"/>
          <p:cNvSpPr/>
          <p:nvPr/>
        </p:nvSpPr>
        <p:spPr>
          <a:xfrm>
            <a:off x="2377439" y="1417320"/>
            <a:ext cx="1645920" cy="12344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4599" y="1527048"/>
            <a:ext cx="1371600" cy="1051560"/>
          </a:xfrm>
          <a:prstGeom prst="rect">
            <a:avLst/>
          </a:prstGeom>
          <a:noFill/>
        </p:spPr>
        <p:txBody>
          <a:bodyPr wrap="square">
            <a:spAutoFit/>
          </a:bodyPr>
          <a:lstStyle/>
          <a:p>
            <a:pPr>
              <a:defRPr sz="1700" b="1">
                <a:solidFill>
                  <a:srgbClr val="3766AA"/>
                </a:solidFill>
              </a:defRPr>
            </a:pPr>
            <a:r>
              <a:t>main()</a:t>
            </a:r>
          </a:p>
          <a:p>
            <a:pPr>
              <a:spcBef>
                <a:spcPts val="600"/>
              </a:spcBef>
              <a:defRPr sz="1350">
                <a:solidFill>
                  <a:srgbClr val="2B2F37"/>
                </a:solidFill>
              </a:defRPr>
            </a:pPr>
            <a:r>
              <a:t>Controls program</a:t>
            </a:r>
          </a:p>
        </p:txBody>
      </p:sp>
      <p:sp>
        <p:nvSpPr>
          <p:cNvPr id="8" name="Rounded Rectangle 7"/>
          <p:cNvSpPr/>
          <p:nvPr/>
        </p:nvSpPr>
        <p:spPr>
          <a:xfrm>
            <a:off x="4251959" y="1417320"/>
            <a:ext cx="1645920" cy="12344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0" y="1527048"/>
            <a:ext cx="1371600" cy="1051560"/>
          </a:xfrm>
          <a:prstGeom prst="rect">
            <a:avLst/>
          </a:prstGeom>
          <a:noFill/>
        </p:spPr>
        <p:txBody>
          <a:bodyPr wrap="square">
            <a:spAutoFit/>
          </a:bodyPr>
          <a:lstStyle/>
          <a:p>
            <a:pPr>
              <a:defRPr sz="1700" b="1">
                <a:solidFill>
                  <a:srgbClr val="3766AA"/>
                </a:solidFill>
              </a:defRPr>
            </a:pPr>
            <a:r>
              <a:t>Linked Lists</a:t>
            </a:r>
          </a:p>
          <a:p>
            <a:pPr>
              <a:spcBef>
                <a:spcPts val="600"/>
              </a:spcBef>
              <a:defRPr sz="1350">
                <a:solidFill>
                  <a:srgbClr val="2B2F37"/>
                </a:solidFill>
              </a:defRPr>
            </a:pPr>
            <a:r>
              <a:t>Stores Item nodes</a:t>
            </a:r>
          </a:p>
        </p:txBody>
      </p:sp>
      <p:sp>
        <p:nvSpPr>
          <p:cNvPr id="10" name="Rounded Rectangle 9"/>
          <p:cNvSpPr/>
          <p:nvPr/>
        </p:nvSpPr>
        <p:spPr>
          <a:xfrm>
            <a:off x="6126479" y="1417320"/>
            <a:ext cx="1645920" cy="12344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527048"/>
            <a:ext cx="1371600" cy="1051560"/>
          </a:xfrm>
          <a:prstGeom prst="rect">
            <a:avLst/>
          </a:prstGeom>
          <a:noFill/>
        </p:spPr>
        <p:txBody>
          <a:bodyPr wrap="square">
            <a:spAutoFit/>
          </a:bodyPr>
          <a:lstStyle/>
          <a:p>
            <a:pPr>
              <a:defRPr sz="1700" b="1">
                <a:solidFill>
                  <a:srgbClr val="3766AA"/>
                </a:solidFill>
              </a:defRPr>
            </a:pPr>
            <a:r>
              <a:t>Hash Table</a:t>
            </a:r>
          </a:p>
          <a:p>
            <a:pPr>
              <a:spcBef>
                <a:spcPts val="600"/>
              </a:spcBef>
              <a:defRPr sz="1350">
                <a:solidFill>
                  <a:srgbClr val="2B2F37"/>
                </a:solidFill>
              </a:defRPr>
            </a:pPr>
            <a:r>
              <a:t>Indexes IDs</a:t>
            </a:r>
          </a:p>
        </p:txBody>
      </p:sp>
      <p:sp>
        <p:nvSpPr>
          <p:cNvPr id="12" name="Rounded Rectangle 11"/>
          <p:cNvSpPr/>
          <p:nvPr/>
        </p:nvSpPr>
        <p:spPr>
          <a:xfrm>
            <a:off x="8001000" y="1417320"/>
            <a:ext cx="1645920" cy="12344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38160" y="1527048"/>
            <a:ext cx="1371600" cy="1051560"/>
          </a:xfrm>
          <a:prstGeom prst="rect">
            <a:avLst/>
          </a:prstGeom>
          <a:noFill/>
        </p:spPr>
        <p:txBody>
          <a:bodyPr wrap="square">
            <a:spAutoFit/>
          </a:bodyPr>
          <a:lstStyle/>
          <a:p>
            <a:pPr>
              <a:defRPr sz="1700" b="1">
                <a:solidFill>
                  <a:srgbClr val="3766AA"/>
                </a:solidFill>
              </a:defRPr>
            </a:pPr>
            <a:r>
              <a:t>Search</a:t>
            </a:r>
          </a:p>
          <a:p>
            <a:pPr>
              <a:spcBef>
                <a:spcPts val="600"/>
              </a:spcBef>
              <a:defRPr sz="1350">
                <a:solidFill>
                  <a:srgbClr val="2B2F37"/>
                </a:solidFill>
              </a:defRPr>
            </a:pPr>
            <a:r>
              <a:t>Finds records</a:t>
            </a:r>
          </a:p>
        </p:txBody>
      </p:sp>
      <p:sp>
        <p:nvSpPr>
          <p:cNvPr id="14" name="Rounded Rectangle 13"/>
          <p:cNvSpPr/>
          <p:nvPr/>
        </p:nvSpPr>
        <p:spPr>
          <a:xfrm>
            <a:off x="9875520" y="1417320"/>
            <a:ext cx="1645920" cy="12344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12680" y="1527048"/>
            <a:ext cx="1371600" cy="1051560"/>
          </a:xfrm>
          <a:prstGeom prst="rect">
            <a:avLst/>
          </a:prstGeom>
          <a:noFill/>
        </p:spPr>
        <p:txBody>
          <a:bodyPr wrap="square">
            <a:spAutoFit/>
          </a:bodyPr>
          <a:lstStyle/>
          <a:p>
            <a:pPr>
              <a:defRPr sz="1700" b="1">
                <a:solidFill>
                  <a:srgbClr val="3766AA"/>
                </a:solidFill>
              </a:defRPr>
            </a:pPr>
            <a:r>
              <a:t>Matching</a:t>
            </a:r>
          </a:p>
          <a:p>
            <a:pPr>
              <a:spcBef>
                <a:spcPts val="600"/>
              </a:spcBef>
              <a:defRPr sz="1350">
                <a:solidFill>
                  <a:srgbClr val="2B2F37"/>
                </a:solidFill>
              </a:defRPr>
            </a:pPr>
            <a:r>
              <a:t>Compares records</a:t>
            </a:r>
          </a:p>
        </p:txBody>
      </p:sp>
      <p:sp>
        <p:nvSpPr>
          <p:cNvPr id="16" name="Right Arrow 15"/>
          <p:cNvSpPr/>
          <p:nvPr/>
        </p:nvSpPr>
        <p:spPr>
          <a:xfrm>
            <a:off x="2121408" y="1801368"/>
            <a:ext cx="411480" cy="32004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a:off x="3995927" y="1801368"/>
            <a:ext cx="411480" cy="32004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ight Arrow 17"/>
          <p:cNvSpPr/>
          <p:nvPr/>
        </p:nvSpPr>
        <p:spPr>
          <a:xfrm>
            <a:off x="5870448" y="1801368"/>
            <a:ext cx="411480" cy="32004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Arrow 18"/>
          <p:cNvSpPr/>
          <p:nvPr/>
        </p:nvSpPr>
        <p:spPr>
          <a:xfrm>
            <a:off x="7744967" y="1801368"/>
            <a:ext cx="411480" cy="32004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ight Arrow 19"/>
          <p:cNvSpPr/>
          <p:nvPr/>
        </p:nvSpPr>
        <p:spPr>
          <a:xfrm>
            <a:off x="9619488" y="1801368"/>
            <a:ext cx="411480" cy="32004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343400" y="3246120"/>
            <a:ext cx="3474720" cy="11887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80560" y="3355848"/>
            <a:ext cx="3200400" cy="1005840"/>
          </a:xfrm>
          <a:prstGeom prst="rect">
            <a:avLst/>
          </a:prstGeom>
          <a:noFill/>
        </p:spPr>
        <p:txBody>
          <a:bodyPr wrap="square">
            <a:spAutoFit/>
          </a:bodyPr>
          <a:lstStyle/>
          <a:p>
            <a:pPr>
              <a:defRPr sz="1700" b="1">
                <a:solidFill>
                  <a:srgbClr val="3766AA"/>
                </a:solidFill>
              </a:defRPr>
            </a:pPr>
            <a:r>
              <a:t>TXT Files</a:t>
            </a:r>
          </a:p>
          <a:p>
            <a:pPr>
              <a:spcBef>
                <a:spcPts val="600"/>
              </a:spcBef>
              <a:defRPr sz="1350">
                <a:solidFill>
                  <a:srgbClr val="2B2F37"/>
                </a:solidFill>
              </a:defRPr>
            </a:pPr>
            <a:r>
              <a:t>lost_items.txt</a:t>
            </a:r>
            <a:br/>
            <a:r>
              <a:t>found_items.txt</a:t>
            </a:r>
          </a:p>
        </p:txBody>
      </p:sp>
      <p:sp>
        <p:nvSpPr>
          <p:cNvPr id="23" name="TextBox 22"/>
          <p:cNvSpPr txBox="1"/>
          <p:nvPr/>
        </p:nvSpPr>
        <p:spPr>
          <a:xfrm>
            <a:off x="731520" y="4617720"/>
            <a:ext cx="10698480" cy="1325880"/>
          </a:xfrm>
          <a:prstGeom prst="rect">
            <a:avLst/>
          </a:prstGeom>
          <a:noFill/>
        </p:spPr>
        <p:txBody>
          <a:bodyPr wrap="square">
            <a:spAutoFit/>
          </a:bodyPr>
          <a:lstStyle/>
          <a:p>
            <a:pPr>
              <a:spcAft>
                <a:spcPts val="1000"/>
              </a:spcAft>
              <a:defRPr sz="1400">
                <a:solidFill>
                  <a:srgbClr val="2B2F37"/>
                </a:solidFill>
              </a:defRPr>
            </a:pPr>
            <a:r>
              <a:t>main() controls the menu and calls functions.</a:t>
            </a:r>
          </a:p>
          <a:p>
            <a:pPr>
              <a:spcAft>
                <a:spcPts val="1000"/>
              </a:spcAft>
              <a:defRPr sz="1400">
                <a:solidFill>
                  <a:srgbClr val="2B2F37"/>
                </a:solidFill>
              </a:defRPr>
            </a:pPr>
            <a:r>
              <a:t>Linked lists are the primary in-memory storage.</a:t>
            </a:r>
          </a:p>
          <a:p>
            <a:pPr>
              <a:spcAft>
                <a:spcPts val="1000"/>
              </a:spcAft>
              <a:defRPr sz="1400">
                <a:solidFill>
                  <a:srgbClr val="2B2F37"/>
                </a:solidFill>
              </a:defRPr>
            </a:pPr>
            <a:r>
              <a:t>Hashing provides an index for fast ID retrieval.</a:t>
            </a:r>
          </a:p>
          <a:p>
            <a:pPr>
              <a:spcAft>
                <a:spcPts val="1000"/>
              </a:spcAft>
              <a:defRPr sz="1400">
                <a:solidFill>
                  <a:srgbClr val="2B2F37"/>
                </a:solidFill>
              </a:defRPr>
            </a:pPr>
            <a:r>
              <a:t>File handling loads data at startup and saves changes.</a:t>
            </a:r>
          </a:p>
        </p:txBody>
      </p:sp>
      <p:sp>
        <p:nvSpPr>
          <p:cNvPr id="24" name="TextBox 23"/>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11064240" cy="594360"/>
          </a:xfrm>
          <a:prstGeom prst="rect">
            <a:avLst/>
          </a:prstGeom>
          <a:noFill/>
        </p:spPr>
        <p:txBody>
          <a:bodyPr wrap="none">
            <a:spAutoFit/>
          </a:bodyPr>
          <a:lstStyle/>
          <a:p>
            <a:pPr>
              <a:defRPr sz="2700" b="1">
                <a:solidFill>
                  <a:srgbClr val="1C3058"/>
                </a:solidFill>
              </a:defRPr>
            </a:pPr>
            <a:r>
              <a:t>3. The Item Structure</a:t>
            </a:r>
          </a:p>
        </p:txBody>
      </p:sp>
      <p:sp>
        <p:nvSpPr>
          <p:cNvPr id="3" name="TextBox 2"/>
          <p:cNvSpPr txBox="1"/>
          <p:nvPr/>
        </p:nvSpPr>
        <p:spPr>
          <a:xfrm>
            <a:off x="530352" y="768096"/>
            <a:ext cx="3345852" cy="307777"/>
          </a:xfrm>
          <a:prstGeom prst="rect">
            <a:avLst/>
          </a:prstGeom>
          <a:noFill/>
        </p:spPr>
        <p:txBody>
          <a:bodyPr wrap="none">
            <a:spAutoFit/>
          </a:bodyPr>
          <a:lstStyle/>
          <a:p>
            <a:pPr>
              <a:defRPr sz="1250">
                <a:solidFill>
                  <a:srgbClr val="5B626E"/>
                </a:solidFill>
              </a:defRPr>
            </a:pPr>
            <a:r>
              <a:rPr sz="1400" dirty="0"/>
              <a:t>The record stored for every lost/found item</a:t>
            </a:r>
          </a:p>
        </p:txBody>
      </p:sp>
      <p:sp>
        <p:nvSpPr>
          <p:cNvPr id="4" name="Rounded Rectangle 3"/>
          <p:cNvSpPr/>
          <p:nvPr/>
        </p:nvSpPr>
        <p:spPr>
          <a:xfrm>
            <a:off x="563880" y="1775951"/>
            <a:ext cx="5532120" cy="3671857"/>
          </a:xfrm>
          <a:prstGeom prst="roundRect">
            <a:avLst/>
          </a:prstGeom>
          <a:solidFill>
            <a:srgbClr val="1E232D"/>
          </a:solidFill>
          <a:ln>
            <a:solidFill>
              <a:srgbClr val="464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1584566" y="2231457"/>
            <a:ext cx="5621769" cy="2462213"/>
          </a:xfrm>
          <a:prstGeom prst="rect">
            <a:avLst/>
          </a:prstGeom>
          <a:noFill/>
        </p:spPr>
        <p:txBody>
          <a:bodyPr wrap="square">
            <a:spAutoFit/>
          </a:bodyPr>
          <a:lstStyle/>
          <a:p>
            <a:pPr>
              <a:defRPr sz="1300">
                <a:solidFill>
                  <a:srgbClr val="FFFFFF"/>
                </a:solidFill>
                <a:latin typeface="Consolas"/>
              </a:defRPr>
            </a:pPr>
            <a:r>
              <a:rPr sz="1400" dirty="0"/>
              <a:t>typedef struct Item</a:t>
            </a:r>
            <a:br>
              <a:rPr sz="1400" dirty="0"/>
            </a:br>
            <a:r>
              <a:rPr sz="1400" dirty="0"/>
              <a:t>{</a:t>
            </a:r>
            <a:br>
              <a:rPr sz="1400" dirty="0"/>
            </a:br>
            <a:r>
              <a:rPr sz="1400" dirty="0"/>
              <a:t>    int id;</a:t>
            </a:r>
            <a:br>
              <a:rPr sz="1400" dirty="0"/>
            </a:br>
            <a:r>
              <a:rPr sz="1400" dirty="0"/>
              <a:t>    char name[50];</a:t>
            </a:r>
            <a:br>
              <a:rPr sz="1400" dirty="0"/>
            </a:br>
            <a:r>
              <a:rPr sz="1400" dirty="0"/>
              <a:t>    char category[30];</a:t>
            </a:r>
            <a:br>
              <a:rPr sz="1400" dirty="0"/>
            </a:br>
            <a:r>
              <a:rPr sz="1400" dirty="0"/>
              <a:t>    char color[20];</a:t>
            </a:r>
            <a:br>
              <a:rPr sz="1400" dirty="0"/>
            </a:br>
            <a:r>
              <a:rPr sz="1400" dirty="0"/>
              <a:t>    char location[50];</a:t>
            </a:r>
            <a:br>
              <a:rPr sz="1400" dirty="0"/>
            </a:br>
            <a:r>
              <a:rPr sz="1400" dirty="0"/>
              <a:t>    char date[15];</a:t>
            </a:r>
            <a:br>
              <a:rPr sz="1400" dirty="0"/>
            </a:br>
            <a:r>
              <a:rPr sz="1400" dirty="0"/>
              <a:t>    int status;</a:t>
            </a:r>
            <a:br>
              <a:rPr sz="1400" dirty="0"/>
            </a:br>
            <a:r>
              <a:rPr sz="1400" dirty="0"/>
              <a:t>    struct Item *next;</a:t>
            </a:r>
            <a:br>
              <a:rPr sz="1400" dirty="0"/>
            </a:br>
            <a:r>
              <a:rPr sz="1400" dirty="0"/>
              <a:t>} Item;</a:t>
            </a:r>
          </a:p>
        </p:txBody>
      </p:sp>
      <p:sp>
        <p:nvSpPr>
          <p:cNvPr id="6" name="TextBox 5"/>
          <p:cNvSpPr txBox="1"/>
          <p:nvPr/>
        </p:nvSpPr>
        <p:spPr>
          <a:xfrm>
            <a:off x="6651674" y="1892903"/>
            <a:ext cx="4251489" cy="338554"/>
          </a:xfrm>
          <a:prstGeom prst="rect">
            <a:avLst/>
          </a:prstGeom>
          <a:noFill/>
        </p:spPr>
        <p:txBody>
          <a:bodyPr wrap="square">
            <a:spAutoFit/>
          </a:bodyPr>
          <a:lstStyle/>
          <a:p>
            <a:pPr>
              <a:spcAft>
                <a:spcPts val="1000"/>
              </a:spcAft>
              <a:defRPr sz="1500">
                <a:solidFill>
                  <a:srgbClr val="2B2F37"/>
                </a:solidFill>
              </a:defRPr>
            </a:pPr>
            <a:r>
              <a:rPr sz="1600" dirty="0"/>
              <a:t>`</a:t>
            </a:r>
            <a:r>
              <a:rPr sz="1600" b="1" dirty="0"/>
              <a:t>struct</a:t>
            </a:r>
            <a:r>
              <a:rPr sz="1600" dirty="0"/>
              <a:t>` groups all properties of one item.</a:t>
            </a:r>
            <a:endParaRPr dirty="0"/>
          </a:p>
        </p:txBody>
      </p:sp>
      <p:sp>
        <p:nvSpPr>
          <p:cNvPr id="7" name="TextBox 6"/>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4</a:t>
            </a:r>
          </a:p>
        </p:txBody>
      </p:sp>
      <p:sp>
        <p:nvSpPr>
          <p:cNvPr id="10" name="TextBox 9">
            <a:extLst>
              <a:ext uri="{FF2B5EF4-FFF2-40B4-BE49-F238E27FC236}">
                <a16:creationId xmlns:a16="http://schemas.microsoft.com/office/drawing/2014/main" id="{E429AA27-E5DF-11E5-1720-C187DD0CCFB0}"/>
              </a:ext>
            </a:extLst>
          </p:cNvPr>
          <p:cNvSpPr txBox="1"/>
          <p:nvPr/>
        </p:nvSpPr>
        <p:spPr>
          <a:xfrm>
            <a:off x="6558116" y="2411897"/>
            <a:ext cx="5712643" cy="2631490"/>
          </a:xfrm>
          <a:prstGeom prst="rect">
            <a:avLst/>
          </a:prstGeom>
          <a:noFill/>
        </p:spPr>
        <p:txBody>
          <a:bodyPr wrap="square" rtlCol="0">
            <a:spAutoFit/>
          </a:bodyPr>
          <a:lstStyle/>
          <a:p>
            <a:r>
              <a:rPr lang="en-US" sz="1500" dirty="0"/>
              <a:t>• id → Unique ID of the item</a:t>
            </a:r>
            <a:br>
              <a:rPr lang="en-US" sz="1500" dirty="0"/>
            </a:br>
            <a:r>
              <a:rPr lang="en-US" sz="1500" dirty="0"/>
              <a:t>• name → Name of the lost/found item</a:t>
            </a:r>
            <a:br>
              <a:rPr lang="en-US" sz="1500" dirty="0"/>
            </a:br>
            <a:r>
              <a:rPr lang="en-US" sz="1500" dirty="0"/>
              <a:t>• category → Category of the item</a:t>
            </a:r>
            <a:br>
              <a:rPr lang="en-US" sz="1500" dirty="0"/>
            </a:br>
            <a:r>
              <a:rPr lang="en-US" sz="1500" dirty="0"/>
              <a:t>• color → Color of the item</a:t>
            </a:r>
            <a:br>
              <a:rPr lang="en-US" sz="1500" dirty="0"/>
            </a:br>
            <a:r>
              <a:rPr lang="en-US" sz="1500" dirty="0"/>
              <a:t>• location → Location where it was lost/found</a:t>
            </a:r>
            <a:br>
              <a:rPr lang="en-US" sz="1500" dirty="0"/>
            </a:br>
            <a:r>
              <a:rPr lang="en-US" sz="1500" dirty="0"/>
              <a:t>• date → Date of the record</a:t>
            </a:r>
            <a:br>
              <a:rPr lang="en-US" sz="1500" dirty="0"/>
            </a:br>
            <a:r>
              <a:rPr lang="en-US" sz="1500" dirty="0"/>
              <a:t>• status → 0 = Active, 1 = Resolved</a:t>
            </a:r>
            <a:br>
              <a:rPr lang="en-US" sz="1500" dirty="0"/>
            </a:br>
            <a:r>
              <a:rPr lang="en-US" sz="1500" dirty="0"/>
              <a:t>• next → Pointer to the next Item node</a:t>
            </a:r>
          </a:p>
          <a:p>
            <a:endParaRPr lang="en-US" sz="1500" dirty="0"/>
          </a:p>
          <a:p>
            <a:r>
              <a:rPr lang="en-US" sz="1500" b="1" dirty="0"/>
              <a:t>Key Point:</a:t>
            </a:r>
            <a:br>
              <a:rPr lang="en-US" sz="1500" dirty="0"/>
            </a:br>
            <a:r>
              <a:rPr lang="en-US" sz="1500" dirty="0"/>
              <a:t>The same Item structure is used for both Lost and Found records.</a:t>
            </a:r>
            <a:endParaRPr lang="en-IN"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731520" y="882396"/>
            <a:ext cx="11064240" cy="594360"/>
          </a:xfrm>
          <a:prstGeom prst="rect">
            <a:avLst/>
          </a:prstGeom>
          <a:noFill/>
        </p:spPr>
        <p:txBody>
          <a:bodyPr wrap="none">
            <a:spAutoFit/>
          </a:bodyPr>
          <a:lstStyle/>
          <a:p>
            <a:pPr>
              <a:defRPr sz="2700" b="1">
                <a:solidFill>
                  <a:srgbClr val="1C3058"/>
                </a:solidFill>
              </a:defRPr>
            </a:pPr>
            <a:r>
              <a:rPr dirty="0"/>
              <a:t>4. Why a Singly Linked List?</a:t>
            </a:r>
          </a:p>
        </p:txBody>
      </p:sp>
      <p:sp>
        <p:nvSpPr>
          <p:cNvPr id="3" name="Rounded Rectangle 2"/>
          <p:cNvSpPr/>
          <p:nvPr/>
        </p:nvSpPr>
        <p:spPr>
          <a:xfrm>
            <a:off x="1005840" y="1828800"/>
            <a:ext cx="1965960" cy="109728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43000" y="1938528"/>
            <a:ext cx="1691639" cy="914400"/>
          </a:xfrm>
          <a:prstGeom prst="rect">
            <a:avLst/>
          </a:prstGeom>
          <a:noFill/>
        </p:spPr>
        <p:txBody>
          <a:bodyPr wrap="square">
            <a:spAutoFit/>
          </a:bodyPr>
          <a:lstStyle/>
          <a:p>
            <a:pPr>
              <a:defRPr sz="1700" b="1">
                <a:solidFill>
                  <a:srgbClr val="3766AA"/>
                </a:solidFill>
              </a:defRPr>
            </a:pPr>
            <a:r>
              <a:t>1001</a:t>
            </a:r>
          </a:p>
          <a:p>
            <a:pPr>
              <a:spcBef>
                <a:spcPts val="600"/>
              </a:spcBef>
              <a:defRPr sz="1350">
                <a:solidFill>
                  <a:srgbClr val="2B2F37"/>
                </a:solidFill>
              </a:defRPr>
            </a:pPr>
            <a:r>
              <a:t>Wallet</a:t>
            </a:r>
          </a:p>
        </p:txBody>
      </p:sp>
      <p:sp>
        <p:nvSpPr>
          <p:cNvPr id="5" name="Right Arrow 4"/>
          <p:cNvSpPr/>
          <p:nvPr/>
        </p:nvSpPr>
        <p:spPr>
          <a:xfrm>
            <a:off x="3200401" y="2212848"/>
            <a:ext cx="685800" cy="32004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023360" y="1828800"/>
            <a:ext cx="1965960" cy="109728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60520" y="1938528"/>
            <a:ext cx="1691639" cy="914400"/>
          </a:xfrm>
          <a:prstGeom prst="rect">
            <a:avLst/>
          </a:prstGeom>
          <a:noFill/>
        </p:spPr>
        <p:txBody>
          <a:bodyPr wrap="square">
            <a:spAutoFit/>
          </a:bodyPr>
          <a:lstStyle/>
          <a:p>
            <a:pPr>
              <a:defRPr sz="1700" b="1">
                <a:solidFill>
                  <a:srgbClr val="3766AA"/>
                </a:solidFill>
              </a:defRPr>
            </a:pPr>
            <a:r>
              <a:t>1002</a:t>
            </a:r>
          </a:p>
          <a:p>
            <a:pPr>
              <a:spcBef>
                <a:spcPts val="600"/>
              </a:spcBef>
              <a:defRPr sz="1350">
                <a:solidFill>
                  <a:srgbClr val="2B2F37"/>
                </a:solidFill>
              </a:defRPr>
            </a:pPr>
            <a:r>
              <a:t>AirPods</a:t>
            </a:r>
          </a:p>
        </p:txBody>
      </p:sp>
      <p:sp>
        <p:nvSpPr>
          <p:cNvPr id="8" name="Right Arrow 7"/>
          <p:cNvSpPr/>
          <p:nvPr/>
        </p:nvSpPr>
        <p:spPr>
          <a:xfrm>
            <a:off x="6172199" y="2212848"/>
            <a:ext cx="685800" cy="32004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040879" y="1828800"/>
            <a:ext cx="1965960" cy="109728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78040" y="1938528"/>
            <a:ext cx="1691639" cy="914400"/>
          </a:xfrm>
          <a:prstGeom prst="rect">
            <a:avLst/>
          </a:prstGeom>
          <a:noFill/>
        </p:spPr>
        <p:txBody>
          <a:bodyPr wrap="square">
            <a:spAutoFit/>
          </a:bodyPr>
          <a:lstStyle/>
          <a:p>
            <a:pPr>
              <a:defRPr sz="1700" b="1">
                <a:solidFill>
                  <a:srgbClr val="3766AA"/>
                </a:solidFill>
              </a:defRPr>
            </a:pPr>
            <a:r>
              <a:t>1003</a:t>
            </a:r>
          </a:p>
          <a:p>
            <a:pPr>
              <a:spcBef>
                <a:spcPts val="600"/>
              </a:spcBef>
              <a:defRPr sz="1350">
                <a:solidFill>
                  <a:srgbClr val="2B2F37"/>
                </a:solidFill>
              </a:defRPr>
            </a:pPr>
            <a:r>
              <a:t>Bottle</a:t>
            </a:r>
          </a:p>
        </p:txBody>
      </p:sp>
      <p:sp>
        <p:nvSpPr>
          <p:cNvPr id="11" name="Rounded Rectangle 10"/>
          <p:cNvSpPr/>
          <p:nvPr/>
        </p:nvSpPr>
        <p:spPr>
          <a:xfrm>
            <a:off x="9966960" y="1828800"/>
            <a:ext cx="1371600" cy="109728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104120" y="1938528"/>
            <a:ext cx="1097280" cy="914400"/>
          </a:xfrm>
          <a:prstGeom prst="rect">
            <a:avLst/>
          </a:prstGeom>
          <a:noFill/>
        </p:spPr>
        <p:txBody>
          <a:bodyPr wrap="square">
            <a:spAutoFit/>
          </a:bodyPr>
          <a:lstStyle/>
          <a:p>
            <a:pPr>
              <a:defRPr sz="1700" b="1">
                <a:solidFill>
                  <a:srgbClr val="3766AA"/>
                </a:solidFill>
              </a:defRPr>
            </a:pPr>
            <a:r>
              <a:t>NULL</a:t>
            </a:r>
          </a:p>
          <a:p>
            <a:pPr>
              <a:spcBef>
                <a:spcPts val="600"/>
              </a:spcBef>
              <a:defRPr sz="1350">
                <a:solidFill>
                  <a:srgbClr val="2B2F37"/>
                </a:solidFill>
              </a:defRPr>
            </a:pPr>
            <a:r>
              <a:t>End of list</a:t>
            </a:r>
          </a:p>
        </p:txBody>
      </p:sp>
      <p:sp>
        <p:nvSpPr>
          <p:cNvPr id="13" name="TextBox 12"/>
          <p:cNvSpPr txBox="1"/>
          <p:nvPr/>
        </p:nvSpPr>
        <p:spPr>
          <a:xfrm>
            <a:off x="731520" y="3327728"/>
            <a:ext cx="10698480" cy="2423160"/>
          </a:xfrm>
          <a:prstGeom prst="rect">
            <a:avLst/>
          </a:prstGeom>
          <a:noFill/>
        </p:spPr>
        <p:txBody>
          <a:bodyPr wrap="square">
            <a:spAutoFit/>
          </a:bodyPr>
          <a:lstStyle/>
          <a:p>
            <a:pPr>
              <a:spcAft>
                <a:spcPts val="1000"/>
              </a:spcAft>
              <a:defRPr sz="1600">
                <a:solidFill>
                  <a:srgbClr val="2B2F37"/>
                </a:solidFill>
              </a:defRPr>
            </a:pPr>
            <a:r>
              <a:t>The number of reports is dynamic, so a fixed-size array is not required.</a:t>
            </a:r>
          </a:p>
          <a:p>
            <a:pPr>
              <a:spcAft>
                <a:spcPts val="1000"/>
              </a:spcAft>
              <a:defRPr sz="1600">
                <a:solidFill>
                  <a:srgbClr val="2B2F37"/>
                </a:solidFill>
              </a:defRPr>
            </a:pPr>
            <a:r>
              <a:t>Each record is allocated using malloc().</a:t>
            </a:r>
          </a:p>
          <a:p>
            <a:pPr>
              <a:spcAft>
                <a:spcPts val="1000"/>
              </a:spcAft>
              <a:defRPr sz="1600">
                <a:solidFill>
                  <a:srgbClr val="2B2F37"/>
                </a:solidFill>
              </a:defRPr>
            </a:pPr>
            <a:r>
              <a:t>Each node stores data plus a pointer to the next node.</a:t>
            </a:r>
          </a:p>
          <a:p>
            <a:pPr>
              <a:spcAft>
                <a:spcPts val="1000"/>
              </a:spcAft>
              <a:defRPr sz="1600">
                <a:solidFill>
                  <a:srgbClr val="2B2F37"/>
                </a:solidFill>
              </a:defRPr>
            </a:pPr>
            <a:r>
              <a:t>Two heads are maintained: lostHead and foundHead.</a:t>
            </a:r>
          </a:p>
          <a:p>
            <a:pPr>
              <a:spcAft>
                <a:spcPts val="1000"/>
              </a:spcAft>
              <a:defRPr sz="1600">
                <a:solidFill>
                  <a:srgbClr val="2B2F37"/>
                </a:solidFill>
              </a:defRPr>
            </a:pPr>
            <a:r>
              <a:t>Current insertion at the end traverses the list, so it is O(n).</a:t>
            </a:r>
          </a:p>
        </p:txBody>
      </p:sp>
      <p:sp>
        <p:nvSpPr>
          <p:cNvPr id="14" name="TextBox 13"/>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11064240" cy="594360"/>
          </a:xfrm>
          <a:prstGeom prst="rect">
            <a:avLst/>
          </a:prstGeom>
          <a:noFill/>
        </p:spPr>
        <p:txBody>
          <a:bodyPr wrap="none">
            <a:spAutoFit/>
          </a:bodyPr>
          <a:lstStyle/>
          <a:p>
            <a:pPr>
              <a:defRPr sz="2700" b="1">
                <a:solidFill>
                  <a:srgbClr val="1C3058"/>
                </a:solidFill>
              </a:defRPr>
            </a:pPr>
            <a:r>
              <a:t>5. Creating &amp; Inserting a Record</a:t>
            </a:r>
          </a:p>
        </p:txBody>
      </p:sp>
      <p:sp>
        <p:nvSpPr>
          <p:cNvPr id="3" name="TextBox 2"/>
          <p:cNvSpPr txBox="1"/>
          <p:nvPr/>
        </p:nvSpPr>
        <p:spPr>
          <a:xfrm>
            <a:off x="530352" y="768096"/>
            <a:ext cx="10972800" cy="320040"/>
          </a:xfrm>
          <a:prstGeom prst="rect">
            <a:avLst/>
          </a:prstGeom>
          <a:noFill/>
        </p:spPr>
        <p:txBody>
          <a:bodyPr wrap="none">
            <a:spAutoFit/>
          </a:bodyPr>
          <a:lstStyle/>
          <a:p>
            <a:pPr>
              <a:defRPr sz="1250">
                <a:solidFill>
                  <a:srgbClr val="5B626E"/>
                </a:solidFill>
              </a:defRPr>
            </a:pPr>
            <a:r>
              <a:t>Call sequence for a new lost item</a:t>
            </a:r>
          </a:p>
        </p:txBody>
      </p:sp>
      <p:sp>
        <p:nvSpPr>
          <p:cNvPr id="4" name="Rounded Rectangle 3"/>
          <p:cNvSpPr/>
          <p:nvPr/>
        </p:nvSpPr>
        <p:spPr>
          <a:xfrm>
            <a:off x="411480" y="1554480"/>
            <a:ext cx="196596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64207"/>
            <a:ext cx="1691639" cy="822960"/>
          </a:xfrm>
          <a:prstGeom prst="rect">
            <a:avLst/>
          </a:prstGeom>
          <a:noFill/>
        </p:spPr>
        <p:txBody>
          <a:bodyPr wrap="square">
            <a:spAutoFit/>
          </a:bodyPr>
          <a:lstStyle/>
          <a:p>
            <a:pPr>
              <a:defRPr sz="1700" b="1">
                <a:solidFill>
                  <a:srgbClr val="3766AA"/>
                </a:solidFill>
              </a:defRPr>
            </a:pPr>
            <a:r>
              <a:t>main()</a:t>
            </a:r>
          </a:p>
          <a:p>
            <a:pPr>
              <a:spcBef>
                <a:spcPts val="600"/>
              </a:spcBef>
              <a:defRPr sz="1350">
                <a:solidFill>
                  <a:srgbClr val="2B2F37"/>
                </a:solidFill>
              </a:defRPr>
            </a:pPr>
            <a:r>
              <a:t>Step 1</a:t>
            </a:r>
          </a:p>
        </p:txBody>
      </p:sp>
      <p:sp>
        <p:nvSpPr>
          <p:cNvPr id="6" name="Right Arrow 5"/>
          <p:cNvSpPr/>
          <p:nvPr/>
        </p:nvSpPr>
        <p:spPr>
          <a:xfrm>
            <a:off x="2404872" y="1874519"/>
            <a:ext cx="292608" cy="22860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697480" y="1554480"/>
            <a:ext cx="196596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34640" y="1664207"/>
            <a:ext cx="1691639" cy="822960"/>
          </a:xfrm>
          <a:prstGeom prst="rect">
            <a:avLst/>
          </a:prstGeom>
          <a:noFill/>
        </p:spPr>
        <p:txBody>
          <a:bodyPr wrap="square">
            <a:spAutoFit/>
          </a:bodyPr>
          <a:lstStyle/>
          <a:p>
            <a:pPr>
              <a:defRPr sz="1700" b="1">
                <a:solidFill>
                  <a:srgbClr val="3766AA"/>
                </a:solidFill>
              </a:defRPr>
            </a:pPr>
            <a:r>
              <a:t>reportLostItem()</a:t>
            </a:r>
          </a:p>
          <a:p>
            <a:pPr>
              <a:spcBef>
                <a:spcPts val="600"/>
              </a:spcBef>
              <a:defRPr sz="1350">
                <a:solidFill>
                  <a:srgbClr val="2B2F37"/>
                </a:solidFill>
              </a:defRPr>
            </a:pPr>
            <a:r>
              <a:t>Step 2</a:t>
            </a:r>
          </a:p>
        </p:txBody>
      </p:sp>
      <p:sp>
        <p:nvSpPr>
          <p:cNvPr id="9" name="Right Arrow 8"/>
          <p:cNvSpPr/>
          <p:nvPr/>
        </p:nvSpPr>
        <p:spPr>
          <a:xfrm>
            <a:off x="4690872" y="1874519"/>
            <a:ext cx="292608" cy="22860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983480" y="1554480"/>
            <a:ext cx="196596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20640" y="1664207"/>
            <a:ext cx="1691639" cy="822960"/>
          </a:xfrm>
          <a:prstGeom prst="rect">
            <a:avLst/>
          </a:prstGeom>
          <a:noFill/>
        </p:spPr>
        <p:txBody>
          <a:bodyPr wrap="square">
            <a:spAutoFit/>
          </a:bodyPr>
          <a:lstStyle/>
          <a:p>
            <a:pPr>
              <a:defRPr sz="1700" b="1">
                <a:solidFill>
                  <a:srgbClr val="3766AA"/>
                </a:solidFill>
              </a:defRPr>
            </a:pPr>
            <a:r>
              <a:t>createItem()</a:t>
            </a:r>
          </a:p>
          <a:p>
            <a:pPr>
              <a:spcBef>
                <a:spcPts val="600"/>
              </a:spcBef>
              <a:defRPr sz="1350">
                <a:solidFill>
                  <a:srgbClr val="2B2F37"/>
                </a:solidFill>
              </a:defRPr>
            </a:pPr>
            <a:r>
              <a:t>Step 3</a:t>
            </a:r>
          </a:p>
        </p:txBody>
      </p:sp>
      <p:sp>
        <p:nvSpPr>
          <p:cNvPr id="12" name="Right Arrow 11"/>
          <p:cNvSpPr/>
          <p:nvPr/>
        </p:nvSpPr>
        <p:spPr>
          <a:xfrm>
            <a:off x="6976872" y="1874519"/>
            <a:ext cx="292608" cy="22860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269480" y="1554480"/>
            <a:ext cx="196596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0" y="1664207"/>
            <a:ext cx="1691639" cy="822960"/>
          </a:xfrm>
          <a:prstGeom prst="rect">
            <a:avLst/>
          </a:prstGeom>
          <a:noFill/>
        </p:spPr>
        <p:txBody>
          <a:bodyPr wrap="square">
            <a:spAutoFit/>
          </a:bodyPr>
          <a:lstStyle/>
          <a:p>
            <a:pPr>
              <a:defRPr sz="1700" b="1">
                <a:solidFill>
                  <a:srgbClr val="3766AA"/>
                </a:solidFill>
              </a:defRPr>
            </a:pPr>
            <a:r>
              <a:t>insertLostItem()</a:t>
            </a:r>
          </a:p>
          <a:p>
            <a:pPr>
              <a:spcBef>
                <a:spcPts val="600"/>
              </a:spcBef>
              <a:defRPr sz="1350">
                <a:solidFill>
                  <a:srgbClr val="2B2F37"/>
                </a:solidFill>
              </a:defRPr>
            </a:pPr>
            <a:r>
              <a:t>Step 4</a:t>
            </a:r>
          </a:p>
        </p:txBody>
      </p:sp>
      <p:sp>
        <p:nvSpPr>
          <p:cNvPr id="15" name="Right Arrow 14"/>
          <p:cNvSpPr/>
          <p:nvPr/>
        </p:nvSpPr>
        <p:spPr>
          <a:xfrm>
            <a:off x="9262872" y="1874519"/>
            <a:ext cx="292608" cy="22860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555480" y="1554480"/>
            <a:ext cx="196596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92640" y="1664207"/>
            <a:ext cx="1691639" cy="822960"/>
          </a:xfrm>
          <a:prstGeom prst="rect">
            <a:avLst/>
          </a:prstGeom>
          <a:noFill/>
        </p:spPr>
        <p:txBody>
          <a:bodyPr wrap="square">
            <a:spAutoFit/>
          </a:bodyPr>
          <a:lstStyle/>
          <a:p>
            <a:pPr>
              <a:defRPr sz="1700" b="1">
                <a:solidFill>
                  <a:srgbClr val="3766AA"/>
                </a:solidFill>
              </a:defRPr>
            </a:pPr>
            <a:r>
              <a:t>insertHash()</a:t>
            </a:r>
          </a:p>
          <a:p>
            <a:pPr>
              <a:spcBef>
                <a:spcPts val="600"/>
              </a:spcBef>
              <a:defRPr sz="1350">
                <a:solidFill>
                  <a:srgbClr val="2B2F37"/>
                </a:solidFill>
              </a:defRPr>
            </a:pPr>
            <a:r>
              <a:t>Step 5</a:t>
            </a:r>
          </a:p>
        </p:txBody>
      </p:sp>
      <p:sp>
        <p:nvSpPr>
          <p:cNvPr id="18" name="Rounded Rectangle 17"/>
          <p:cNvSpPr/>
          <p:nvPr/>
        </p:nvSpPr>
        <p:spPr>
          <a:xfrm>
            <a:off x="1097280" y="2815660"/>
            <a:ext cx="9966960" cy="1618488"/>
          </a:xfrm>
          <a:prstGeom prst="roundRect">
            <a:avLst/>
          </a:prstGeom>
          <a:solidFill>
            <a:srgbClr val="1E232D"/>
          </a:solidFill>
          <a:ln>
            <a:solidFill>
              <a:srgbClr val="464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TextBox 18"/>
          <p:cNvSpPr txBox="1"/>
          <p:nvPr/>
        </p:nvSpPr>
        <p:spPr>
          <a:xfrm>
            <a:off x="1344470" y="2924712"/>
            <a:ext cx="4873450" cy="1400383"/>
          </a:xfrm>
          <a:prstGeom prst="rect">
            <a:avLst/>
          </a:prstGeom>
          <a:noFill/>
        </p:spPr>
        <p:txBody>
          <a:bodyPr wrap="none">
            <a:spAutoFit/>
          </a:bodyPr>
          <a:lstStyle/>
          <a:p>
            <a:pPr>
              <a:defRPr sz="1700">
                <a:solidFill>
                  <a:srgbClr val="FFFFFF"/>
                </a:solidFill>
                <a:latin typeface="Consolas"/>
              </a:defRPr>
            </a:pPr>
            <a:r>
              <a:rPr lang="en-US" dirty="0" err="1"/>
              <a:t>newItem</a:t>
            </a:r>
            <a:r>
              <a:rPr lang="en-US" dirty="0"/>
              <a:t> = (Item *)malloc(</a:t>
            </a:r>
            <a:r>
              <a:rPr lang="en-US" dirty="0" err="1"/>
              <a:t>sizeof</a:t>
            </a:r>
            <a:r>
              <a:rPr lang="en-US" dirty="0"/>
              <a:t>(Item));</a:t>
            </a:r>
          </a:p>
          <a:p>
            <a:pPr>
              <a:defRPr sz="1700">
                <a:solidFill>
                  <a:srgbClr val="FFFFFF"/>
                </a:solidFill>
                <a:latin typeface="Consolas"/>
              </a:defRPr>
            </a:pPr>
            <a:endParaRPr lang="en-US" dirty="0"/>
          </a:p>
          <a:p>
            <a:pPr>
              <a:defRPr sz="1700">
                <a:solidFill>
                  <a:srgbClr val="FFFFFF"/>
                </a:solidFill>
                <a:latin typeface="Consolas"/>
              </a:defRPr>
            </a:pPr>
            <a:r>
              <a:rPr lang="en-US" dirty="0" err="1"/>
              <a:t>newItem</a:t>
            </a:r>
            <a:r>
              <a:rPr lang="en-US" dirty="0"/>
              <a:t>-&gt;id = </a:t>
            </a:r>
            <a:r>
              <a:rPr lang="en-US" dirty="0" err="1"/>
              <a:t>nextLostID</a:t>
            </a:r>
            <a:r>
              <a:rPr lang="en-US" dirty="0"/>
              <a:t>++;</a:t>
            </a:r>
          </a:p>
          <a:p>
            <a:pPr>
              <a:defRPr sz="1700">
                <a:solidFill>
                  <a:srgbClr val="FFFFFF"/>
                </a:solidFill>
                <a:latin typeface="Consolas"/>
              </a:defRPr>
            </a:pPr>
            <a:endParaRPr lang="en-US" dirty="0"/>
          </a:p>
          <a:p>
            <a:pPr>
              <a:defRPr sz="1700">
                <a:solidFill>
                  <a:srgbClr val="FFFFFF"/>
                </a:solidFill>
                <a:latin typeface="Consolas"/>
              </a:defRPr>
            </a:pPr>
            <a:r>
              <a:rPr lang="en-US" dirty="0" err="1"/>
              <a:t>insertLostItem</a:t>
            </a:r>
            <a:r>
              <a:rPr lang="en-US" dirty="0"/>
              <a:t>(</a:t>
            </a:r>
            <a:r>
              <a:rPr lang="en-US" dirty="0" err="1"/>
              <a:t>newItem</a:t>
            </a:r>
            <a:r>
              <a:rPr lang="en-US" dirty="0"/>
              <a:t>);</a:t>
            </a:r>
            <a:endParaRPr dirty="0"/>
          </a:p>
        </p:txBody>
      </p:sp>
      <p:sp>
        <p:nvSpPr>
          <p:cNvPr id="20" name="TextBox 19"/>
          <p:cNvSpPr txBox="1"/>
          <p:nvPr/>
        </p:nvSpPr>
        <p:spPr>
          <a:xfrm>
            <a:off x="1142999" y="4689488"/>
            <a:ext cx="10241280" cy="1323439"/>
          </a:xfrm>
          <a:prstGeom prst="rect">
            <a:avLst/>
          </a:prstGeom>
          <a:noFill/>
        </p:spPr>
        <p:txBody>
          <a:bodyPr wrap="square">
            <a:spAutoFit/>
          </a:bodyPr>
          <a:lstStyle/>
          <a:p>
            <a:pPr>
              <a:spcAft>
                <a:spcPts val="1000"/>
              </a:spcAft>
              <a:defRPr sz="1500">
                <a:solidFill>
                  <a:srgbClr val="2B2F37"/>
                </a:solidFill>
              </a:defRPr>
            </a:pPr>
            <a:r>
              <a:rPr lang="en-US" sz="1600" dirty="0"/>
              <a:t>• malloc() dynamically creates memory for a new Item.</a:t>
            </a:r>
            <a:br>
              <a:rPr lang="en-US" sz="1600" dirty="0"/>
            </a:br>
            <a:r>
              <a:rPr lang="en-US" sz="1600" dirty="0"/>
              <a:t>• </a:t>
            </a:r>
            <a:r>
              <a:rPr lang="en-US" sz="1600" dirty="0" err="1"/>
              <a:t>createItem</a:t>
            </a:r>
            <a:r>
              <a:rPr lang="en-US" sz="1600" dirty="0"/>
              <a:t>() takes the item details from the user.</a:t>
            </a:r>
            <a:br>
              <a:rPr lang="en-US" sz="1600" dirty="0"/>
            </a:br>
            <a:r>
              <a:rPr lang="en-US" sz="1600" dirty="0"/>
              <a:t>• A unique ID is assigned to the item.</a:t>
            </a:r>
            <a:br>
              <a:rPr lang="en-US" sz="1600" dirty="0"/>
            </a:br>
            <a:r>
              <a:rPr lang="en-US" sz="1600" dirty="0"/>
              <a:t>• </a:t>
            </a:r>
            <a:r>
              <a:rPr lang="en-US" sz="1600" dirty="0" err="1"/>
              <a:t>insertLostItem</a:t>
            </a:r>
            <a:r>
              <a:rPr lang="en-US" sz="1600" dirty="0"/>
              <a:t>() adds the node to the lost-item linked list.</a:t>
            </a:r>
            <a:br>
              <a:rPr lang="en-US" sz="1600" dirty="0"/>
            </a:br>
            <a:r>
              <a:rPr lang="en-US" sz="1600" dirty="0"/>
              <a:t>• The same process is used for found items using </a:t>
            </a:r>
            <a:r>
              <a:rPr lang="en-US" sz="1600" dirty="0" err="1"/>
              <a:t>insertFoundItem</a:t>
            </a:r>
            <a:r>
              <a:rPr lang="en-US" sz="1600" dirty="0"/>
              <a:t>().</a:t>
            </a:r>
            <a:endParaRPr sz="1600" dirty="0"/>
          </a:p>
        </p:txBody>
      </p:sp>
      <p:sp>
        <p:nvSpPr>
          <p:cNvPr id="21" name="TextBox 20"/>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a:extLst>
            <a:ext uri="{FF2B5EF4-FFF2-40B4-BE49-F238E27FC236}">
              <a16:creationId xmlns:a16="http://schemas.microsoft.com/office/drawing/2014/main" id="{5275A9DE-A247-2E07-F9AC-B49752E00A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965EEB-7424-16E5-3C4A-E325ECD2658A}"/>
              </a:ext>
            </a:extLst>
          </p:cNvPr>
          <p:cNvSpPr txBox="1"/>
          <p:nvPr/>
        </p:nvSpPr>
        <p:spPr>
          <a:xfrm>
            <a:off x="502920" y="182880"/>
            <a:ext cx="4776692" cy="507831"/>
          </a:xfrm>
          <a:prstGeom prst="rect">
            <a:avLst/>
          </a:prstGeom>
          <a:noFill/>
        </p:spPr>
        <p:txBody>
          <a:bodyPr wrap="none">
            <a:spAutoFit/>
          </a:bodyPr>
          <a:lstStyle/>
          <a:p>
            <a:pPr>
              <a:defRPr sz="2700" b="1">
                <a:solidFill>
                  <a:srgbClr val="1C3058"/>
                </a:solidFill>
              </a:defRPr>
            </a:pPr>
            <a:r>
              <a:rPr lang="en-IN" sz="2700" b="1" dirty="0"/>
              <a:t>6. DISPLAY &amp; RESOLVE RECORDS</a:t>
            </a:r>
            <a:endParaRPr dirty="0"/>
          </a:p>
        </p:txBody>
      </p:sp>
      <p:sp>
        <p:nvSpPr>
          <p:cNvPr id="18" name="Rounded Rectangle 17">
            <a:extLst>
              <a:ext uri="{FF2B5EF4-FFF2-40B4-BE49-F238E27FC236}">
                <a16:creationId xmlns:a16="http://schemas.microsoft.com/office/drawing/2014/main" id="{5EEF0D1C-6C31-5F1A-64DB-1E98AAF62F24}"/>
              </a:ext>
            </a:extLst>
          </p:cNvPr>
          <p:cNvSpPr/>
          <p:nvPr/>
        </p:nvSpPr>
        <p:spPr>
          <a:xfrm>
            <a:off x="632058" y="747128"/>
            <a:ext cx="10084067" cy="2074724"/>
          </a:xfrm>
          <a:prstGeom prst="roundRect">
            <a:avLst/>
          </a:prstGeom>
          <a:solidFill>
            <a:srgbClr val="1E232D"/>
          </a:solidFill>
          <a:ln>
            <a:solidFill>
              <a:srgbClr val="464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TextBox 18">
            <a:extLst>
              <a:ext uri="{FF2B5EF4-FFF2-40B4-BE49-F238E27FC236}">
                <a16:creationId xmlns:a16="http://schemas.microsoft.com/office/drawing/2014/main" id="{289FE820-9E24-1285-FA5B-00B8280F94E0}"/>
              </a:ext>
            </a:extLst>
          </p:cNvPr>
          <p:cNvSpPr txBox="1"/>
          <p:nvPr/>
        </p:nvSpPr>
        <p:spPr>
          <a:xfrm>
            <a:off x="1007585" y="898248"/>
            <a:ext cx="5601761" cy="1923604"/>
          </a:xfrm>
          <a:prstGeom prst="rect">
            <a:avLst/>
          </a:prstGeom>
          <a:noFill/>
        </p:spPr>
        <p:txBody>
          <a:bodyPr wrap="square">
            <a:spAutoFit/>
          </a:bodyPr>
          <a:lstStyle/>
          <a:p>
            <a:pPr>
              <a:defRPr sz="1700">
                <a:solidFill>
                  <a:srgbClr val="FFFFFF"/>
                </a:solidFill>
                <a:latin typeface="Consolas"/>
              </a:defRPr>
            </a:pPr>
            <a:r>
              <a:rPr lang="en-US" dirty="0"/>
              <a:t>current = </a:t>
            </a:r>
            <a:r>
              <a:rPr lang="en-US" dirty="0" err="1"/>
              <a:t>lostHead</a:t>
            </a:r>
            <a:r>
              <a:rPr lang="en-US" dirty="0"/>
              <a:t>;</a:t>
            </a:r>
          </a:p>
          <a:p>
            <a:pPr>
              <a:defRPr sz="1700">
                <a:solidFill>
                  <a:srgbClr val="FFFFFF"/>
                </a:solidFill>
                <a:latin typeface="Consolas"/>
              </a:defRPr>
            </a:pPr>
            <a:endParaRPr lang="en-US" dirty="0"/>
          </a:p>
          <a:p>
            <a:pPr>
              <a:defRPr sz="1700">
                <a:solidFill>
                  <a:srgbClr val="FFFFFF"/>
                </a:solidFill>
                <a:latin typeface="Consolas"/>
              </a:defRPr>
            </a:pPr>
            <a:r>
              <a:rPr lang="en-US" dirty="0"/>
              <a:t>while (current != NULL)</a:t>
            </a:r>
          </a:p>
          <a:p>
            <a:pPr>
              <a:defRPr sz="1700">
                <a:solidFill>
                  <a:srgbClr val="FFFFFF"/>
                </a:solidFill>
                <a:latin typeface="Consolas"/>
              </a:defRPr>
            </a:pPr>
            <a:r>
              <a:rPr lang="en-US" dirty="0"/>
              <a:t>{</a:t>
            </a:r>
          </a:p>
          <a:p>
            <a:pPr>
              <a:defRPr sz="1700">
                <a:solidFill>
                  <a:srgbClr val="FFFFFF"/>
                </a:solidFill>
                <a:latin typeface="Consolas"/>
              </a:defRPr>
            </a:pPr>
            <a:r>
              <a:rPr lang="en-US" dirty="0"/>
              <a:t>    </a:t>
            </a:r>
            <a:r>
              <a:rPr lang="en-US" dirty="0" err="1"/>
              <a:t>displayItem</a:t>
            </a:r>
            <a:r>
              <a:rPr lang="en-US" dirty="0"/>
              <a:t>(current);</a:t>
            </a:r>
          </a:p>
          <a:p>
            <a:pPr>
              <a:defRPr sz="1700">
                <a:solidFill>
                  <a:srgbClr val="FFFFFF"/>
                </a:solidFill>
                <a:latin typeface="Consolas"/>
              </a:defRPr>
            </a:pPr>
            <a:r>
              <a:rPr lang="en-US" dirty="0"/>
              <a:t>    current = current-&gt;next;</a:t>
            </a:r>
          </a:p>
          <a:p>
            <a:pPr>
              <a:defRPr sz="1700">
                <a:solidFill>
                  <a:srgbClr val="FFFFFF"/>
                </a:solidFill>
                <a:latin typeface="Consolas"/>
              </a:defRPr>
            </a:pPr>
            <a:r>
              <a:rPr lang="en-US" dirty="0"/>
              <a:t>}</a:t>
            </a:r>
            <a:endParaRPr dirty="0"/>
          </a:p>
        </p:txBody>
      </p:sp>
      <p:sp>
        <p:nvSpPr>
          <p:cNvPr id="20" name="TextBox 19">
            <a:extLst>
              <a:ext uri="{FF2B5EF4-FFF2-40B4-BE49-F238E27FC236}">
                <a16:creationId xmlns:a16="http://schemas.microsoft.com/office/drawing/2014/main" id="{57E38E2E-9E80-C141-327D-DA6B169766C6}"/>
              </a:ext>
            </a:extLst>
          </p:cNvPr>
          <p:cNvSpPr txBox="1"/>
          <p:nvPr/>
        </p:nvSpPr>
        <p:spPr>
          <a:xfrm>
            <a:off x="776438" y="2906896"/>
            <a:ext cx="10241280" cy="784830"/>
          </a:xfrm>
          <a:prstGeom prst="rect">
            <a:avLst/>
          </a:prstGeom>
          <a:noFill/>
        </p:spPr>
        <p:txBody>
          <a:bodyPr wrap="square">
            <a:spAutoFit/>
          </a:bodyPr>
          <a:lstStyle/>
          <a:p>
            <a:pPr>
              <a:spcAft>
                <a:spcPts val="1000"/>
              </a:spcAft>
              <a:defRPr sz="1500">
                <a:solidFill>
                  <a:srgbClr val="2B2F37"/>
                </a:solidFill>
              </a:defRPr>
            </a:pPr>
            <a:r>
              <a:rPr lang="en-US" sz="1500" dirty="0"/>
              <a:t>• Traverses the linked list from the first node to NULL</a:t>
            </a:r>
            <a:br>
              <a:rPr lang="en-US" sz="1500" dirty="0"/>
            </a:br>
            <a:r>
              <a:rPr lang="en-US" sz="1500" dirty="0"/>
              <a:t>• </a:t>
            </a:r>
            <a:r>
              <a:rPr lang="en-US" sz="1500" dirty="0" err="1"/>
              <a:t>displayItem</a:t>
            </a:r>
            <a:r>
              <a:rPr lang="en-US" sz="1500" dirty="0"/>
              <a:t>() shows ID, name, category, color, location, date and status</a:t>
            </a:r>
            <a:br>
              <a:rPr lang="en-US" sz="1500" dirty="0"/>
            </a:br>
            <a:r>
              <a:rPr lang="en-US" sz="1500" dirty="0"/>
              <a:t>• The same process is used for both Lost and Found records</a:t>
            </a:r>
            <a:endParaRPr sz="1600" dirty="0"/>
          </a:p>
        </p:txBody>
      </p:sp>
      <p:sp>
        <p:nvSpPr>
          <p:cNvPr id="21" name="TextBox 20">
            <a:extLst>
              <a:ext uri="{FF2B5EF4-FFF2-40B4-BE49-F238E27FC236}">
                <a16:creationId xmlns:a16="http://schemas.microsoft.com/office/drawing/2014/main" id="{8C687E05-03ED-5190-FF3A-240A38D09AF2}"/>
              </a:ext>
            </a:extLst>
          </p:cNvPr>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6</a:t>
            </a:r>
          </a:p>
        </p:txBody>
      </p:sp>
      <p:sp>
        <p:nvSpPr>
          <p:cNvPr id="22" name="Rounded Rectangle 17">
            <a:extLst>
              <a:ext uri="{FF2B5EF4-FFF2-40B4-BE49-F238E27FC236}">
                <a16:creationId xmlns:a16="http://schemas.microsoft.com/office/drawing/2014/main" id="{7712516B-2CB3-D3C9-C52A-8C00B8296E10}"/>
              </a:ext>
            </a:extLst>
          </p:cNvPr>
          <p:cNvSpPr/>
          <p:nvPr/>
        </p:nvSpPr>
        <p:spPr>
          <a:xfrm>
            <a:off x="632058" y="3776770"/>
            <a:ext cx="9966960" cy="1067946"/>
          </a:xfrm>
          <a:prstGeom prst="roundRect">
            <a:avLst/>
          </a:prstGeom>
          <a:solidFill>
            <a:srgbClr val="1E232D"/>
          </a:solidFill>
          <a:ln>
            <a:solidFill>
              <a:srgbClr val="464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TextBox 22">
            <a:extLst>
              <a:ext uri="{FF2B5EF4-FFF2-40B4-BE49-F238E27FC236}">
                <a16:creationId xmlns:a16="http://schemas.microsoft.com/office/drawing/2014/main" id="{7005FE2A-854D-79CC-9832-879627F029BD}"/>
              </a:ext>
            </a:extLst>
          </p:cNvPr>
          <p:cNvSpPr txBox="1"/>
          <p:nvPr/>
        </p:nvSpPr>
        <p:spPr>
          <a:xfrm>
            <a:off x="1007584" y="4018633"/>
            <a:ext cx="5601761" cy="615553"/>
          </a:xfrm>
          <a:prstGeom prst="rect">
            <a:avLst/>
          </a:prstGeom>
          <a:noFill/>
        </p:spPr>
        <p:txBody>
          <a:bodyPr wrap="square">
            <a:spAutoFit/>
          </a:bodyPr>
          <a:lstStyle/>
          <a:p>
            <a:pPr>
              <a:defRPr sz="1700">
                <a:solidFill>
                  <a:srgbClr val="FFFFFF"/>
                </a:solidFill>
                <a:latin typeface="Consolas"/>
              </a:defRPr>
            </a:pPr>
            <a:r>
              <a:rPr lang="en-US" dirty="0"/>
              <a:t>item = </a:t>
            </a:r>
            <a:r>
              <a:rPr lang="en-US" dirty="0" err="1"/>
              <a:t>hashSearch</a:t>
            </a:r>
            <a:r>
              <a:rPr lang="en-US" dirty="0"/>
              <a:t>(id);</a:t>
            </a:r>
          </a:p>
          <a:p>
            <a:pPr>
              <a:defRPr sz="1700">
                <a:solidFill>
                  <a:srgbClr val="FFFFFF"/>
                </a:solidFill>
                <a:latin typeface="Consolas"/>
              </a:defRPr>
            </a:pPr>
            <a:r>
              <a:rPr lang="en-US" dirty="0"/>
              <a:t>item-&gt;status = 1;</a:t>
            </a:r>
            <a:endParaRPr dirty="0"/>
          </a:p>
        </p:txBody>
      </p:sp>
      <p:sp>
        <p:nvSpPr>
          <p:cNvPr id="24" name="TextBox 23">
            <a:extLst>
              <a:ext uri="{FF2B5EF4-FFF2-40B4-BE49-F238E27FC236}">
                <a16:creationId xmlns:a16="http://schemas.microsoft.com/office/drawing/2014/main" id="{3488EDBD-76DD-9D2F-BA91-8556FCC65DA2}"/>
              </a:ext>
            </a:extLst>
          </p:cNvPr>
          <p:cNvSpPr txBox="1"/>
          <p:nvPr/>
        </p:nvSpPr>
        <p:spPr>
          <a:xfrm>
            <a:off x="776438" y="5014804"/>
            <a:ext cx="10241280" cy="1015663"/>
          </a:xfrm>
          <a:prstGeom prst="rect">
            <a:avLst/>
          </a:prstGeom>
          <a:noFill/>
        </p:spPr>
        <p:txBody>
          <a:bodyPr wrap="square">
            <a:spAutoFit/>
          </a:bodyPr>
          <a:lstStyle/>
          <a:p>
            <a:pPr>
              <a:spcAft>
                <a:spcPts val="1000"/>
              </a:spcAft>
              <a:defRPr sz="1500">
                <a:solidFill>
                  <a:srgbClr val="2B2F37"/>
                </a:solidFill>
              </a:defRPr>
            </a:pPr>
            <a:r>
              <a:rPr lang="en-US" sz="1500" dirty="0"/>
              <a:t>• User enters the Item ID</a:t>
            </a:r>
            <a:br>
              <a:rPr lang="en-US" sz="1500" dirty="0"/>
            </a:br>
            <a:r>
              <a:rPr lang="en-US" sz="1500" dirty="0"/>
              <a:t>• The item is located using its ID</a:t>
            </a:r>
            <a:br>
              <a:rPr lang="en-US" sz="1500" dirty="0"/>
            </a:br>
            <a:r>
              <a:rPr lang="en-US" sz="1500" dirty="0"/>
              <a:t>• Status changes from 0 = Active to 1 = Resolved</a:t>
            </a:r>
            <a:br>
              <a:rPr lang="en-US" sz="1500" dirty="0"/>
            </a:br>
            <a:r>
              <a:rPr lang="en-US" sz="1500" dirty="0"/>
              <a:t>• The updated status is shown when the record is displayed</a:t>
            </a:r>
            <a:endParaRPr sz="1600" dirty="0"/>
          </a:p>
        </p:txBody>
      </p:sp>
    </p:spTree>
    <p:extLst>
      <p:ext uri="{BB962C8B-B14F-4D97-AF65-F5344CB8AC3E}">
        <p14:creationId xmlns:p14="http://schemas.microsoft.com/office/powerpoint/2010/main" val="578016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3231526" cy="507831"/>
          </a:xfrm>
          <a:prstGeom prst="rect">
            <a:avLst/>
          </a:prstGeom>
          <a:noFill/>
        </p:spPr>
        <p:txBody>
          <a:bodyPr wrap="none">
            <a:spAutoFit/>
          </a:bodyPr>
          <a:lstStyle/>
          <a:p>
            <a:pPr>
              <a:defRPr sz="2700" b="1">
                <a:solidFill>
                  <a:srgbClr val="1C3058"/>
                </a:solidFill>
              </a:defRPr>
            </a:pPr>
            <a:r>
              <a:rPr lang="en-IN" dirty="0"/>
              <a:t>7</a:t>
            </a:r>
            <a:r>
              <a:rPr dirty="0"/>
              <a:t>. Why a Hash Table?</a:t>
            </a:r>
          </a:p>
        </p:txBody>
      </p:sp>
      <p:sp>
        <p:nvSpPr>
          <p:cNvPr id="3" name="TextBox 2"/>
          <p:cNvSpPr txBox="1"/>
          <p:nvPr/>
        </p:nvSpPr>
        <p:spPr>
          <a:xfrm>
            <a:off x="530352" y="768096"/>
            <a:ext cx="10972800" cy="320040"/>
          </a:xfrm>
          <a:prstGeom prst="rect">
            <a:avLst/>
          </a:prstGeom>
          <a:noFill/>
        </p:spPr>
        <p:txBody>
          <a:bodyPr wrap="none">
            <a:spAutoFit/>
          </a:bodyPr>
          <a:lstStyle/>
          <a:p>
            <a:pPr>
              <a:defRPr sz="1250">
                <a:solidFill>
                  <a:srgbClr val="5B626E"/>
                </a:solidFill>
              </a:defRPr>
            </a:pPr>
            <a:r>
              <a:t>Fast lookup by Item ID</a:t>
            </a:r>
          </a:p>
        </p:txBody>
      </p:sp>
      <p:sp>
        <p:nvSpPr>
          <p:cNvPr id="4" name="Rounded Rectangle 3"/>
          <p:cNvSpPr/>
          <p:nvPr/>
        </p:nvSpPr>
        <p:spPr>
          <a:xfrm>
            <a:off x="640080" y="1234440"/>
            <a:ext cx="4846320" cy="1417320"/>
          </a:xfrm>
          <a:prstGeom prst="roundRect">
            <a:avLst/>
          </a:prstGeom>
          <a:solidFill>
            <a:srgbClr val="1E232D"/>
          </a:solidFill>
          <a:ln>
            <a:solidFill>
              <a:srgbClr val="464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6384" y="1325880"/>
            <a:ext cx="4553712" cy="1252728"/>
          </a:xfrm>
          <a:prstGeom prst="rect">
            <a:avLst/>
          </a:prstGeom>
          <a:noFill/>
        </p:spPr>
        <p:txBody>
          <a:bodyPr wrap="none">
            <a:spAutoFit/>
          </a:bodyPr>
          <a:lstStyle/>
          <a:p>
            <a:pPr>
              <a:defRPr sz="1500">
                <a:solidFill>
                  <a:srgbClr val="FFFFFF"/>
                </a:solidFill>
                <a:latin typeface="Consolas"/>
              </a:defRPr>
            </a:pPr>
            <a:r>
              <a:t>int hashFunction(int id)</a:t>
            </a:r>
            <a:br/>
            <a:r>
              <a:t>{</a:t>
            </a:r>
            <a:br/>
            <a:r>
              <a:t>    return id % TABLE_SIZE;</a:t>
            </a:r>
            <a:br/>
            <a:r>
              <a:t>}</a:t>
            </a:r>
          </a:p>
        </p:txBody>
      </p:sp>
      <p:sp>
        <p:nvSpPr>
          <p:cNvPr id="6" name="Rounded Rectangle 5"/>
          <p:cNvSpPr/>
          <p:nvPr/>
        </p:nvSpPr>
        <p:spPr>
          <a:xfrm>
            <a:off x="5852160" y="1234440"/>
            <a:ext cx="5212080" cy="14173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89320" y="1344168"/>
            <a:ext cx="4937760" cy="1184940"/>
          </a:xfrm>
          <a:prstGeom prst="rect">
            <a:avLst/>
          </a:prstGeom>
          <a:noFill/>
        </p:spPr>
        <p:txBody>
          <a:bodyPr wrap="square">
            <a:spAutoFit/>
          </a:bodyPr>
          <a:lstStyle/>
          <a:p>
            <a:pPr>
              <a:defRPr sz="1700" b="1">
                <a:solidFill>
                  <a:srgbClr val="3766AA"/>
                </a:solidFill>
              </a:defRPr>
            </a:pPr>
            <a:r>
              <a:rPr lang="en-IN" dirty="0"/>
              <a:t>Eg: </a:t>
            </a:r>
            <a:r>
              <a:rPr dirty="0"/>
              <a:t>ID = 1001</a:t>
            </a:r>
          </a:p>
          <a:p>
            <a:pPr>
              <a:spcBef>
                <a:spcPts val="600"/>
              </a:spcBef>
              <a:defRPr sz="1350">
                <a:solidFill>
                  <a:srgbClr val="2B2F37"/>
                </a:solidFill>
              </a:defRPr>
            </a:pPr>
            <a:r>
              <a:rPr dirty="0"/>
              <a:t>1001 % 101 → bucket 91</a:t>
            </a:r>
            <a:endParaRPr lang="en-IN" dirty="0"/>
          </a:p>
          <a:p>
            <a:pPr>
              <a:defRPr sz="1700" b="1">
                <a:solidFill>
                  <a:srgbClr val="3766AA"/>
                </a:solidFill>
              </a:defRPr>
            </a:pPr>
            <a:r>
              <a:rPr lang="sv-SE" dirty="0"/>
              <a:t>ID = 2050</a:t>
            </a:r>
          </a:p>
          <a:p>
            <a:pPr>
              <a:spcBef>
                <a:spcPts val="600"/>
              </a:spcBef>
              <a:defRPr sz="1350">
                <a:solidFill>
                  <a:srgbClr val="2B2F37"/>
                </a:solidFill>
              </a:defRPr>
            </a:pPr>
            <a:r>
              <a:rPr lang="sv-SE" dirty="0"/>
              <a:t>2050 % 101 → bucket 30</a:t>
            </a:r>
            <a:endParaRPr lang="en-IN" dirty="0"/>
          </a:p>
        </p:txBody>
      </p:sp>
      <p:sp>
        <p:nvSpPr>
          <p:cNvPr id="8" name="Rounded Rectangle 7"/>
          <p:cNvSpPr/>
          <p:nvPr/>
        </p:nvSpPr>
        <p:spPr>
          <a:xfrm>
            <a:off x="914400" y="3063240"/>
            <a:ext cx="10149840" cy="109728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172968"/>
            <a:ext cx="9875519" cy="923330"/>
          </a:xfrm>
          <a:prstGeom prst="rect">
            <a:avLst/>
          </a:prstGeom>
          <a:noFill/>
        </p:spPr>
        <p:txBody>
          <a:bodyPr wrap="square">
            <a:spAutoFit/>
          </a:bodyPr>
          <a:lstStyle/>
          <a:p>
            <a:pPr>
              <a:defRPr sz="1700" b="1">
                <a:solidFill>
                  <a:srgbClr val="3766AA"/>
                </a:solidFill>
              </a:defRPr>
            </a:pPr>
            <a:r>
              <a:rPr dirty="0"/>
              <a:t>Hash Table</a:t>
            </a:r>
          </a:p>
          <a:p>
            <a:pPr>
              <a:spcBef>
                <a:spcPts val="600"/>
              </a:spcBef>
              <a:defRPr sz="1350">
                <a:solidFill>
                  <a:srgbClr val="2B2F37"/>
                </a:solidFill>
              </a:defRPr>
            </a:pPr>
            <a:r>
              <a:rPr lang="en-IN" dirty="0"/>
              <a:t>Hash Tabe </a:t>
            </a:r>
            <a:r>
              <a:rPr lang="en-IN" sz="1350" dirty="0">
                <a:solidFill>
                  <a:srgbClr val="2B2F37"/>
                </a:solidFill>
              </a:rPr>
              <a:t>uses a hash function to convert a key (like an ID or name) into an index in an array, where the corresponding value is stored.</a:t>
            </a:r>
          </a:p>
          <a:p>
            <a:pPr>
              <a:spcBef>
                <a:spcPts val="600"/>
              </a:spcBef>
              <a:defRPr sz="1350">
                <a:solidFill>
                  <a:srgbClr val="2B2F37"/>
                </a:solidFill>
              </a:defRPr>
            </a:pPr>
            <a:r>
              <a:rPr lang="en-IN" sz="1350" dirty="0">
                <a:solidFill>
                  <a:srgbClr val="2B2F37"/>
                </a:solidFill>
              </a:rPr>
              <a:t>Its types are: Separate Chaining and Open addressing (linear, quadratic and chaining)</a:t>
            </a:r>
            <a:endParaRPr dirty="0"/>
          </a:p>
        </p:txBody>
      </p:sp>
      <p:sp>
        <p:nvSpPr>
          <p:cNvPr id="10" name="TextBox 9"/>
          <p:cNvSpPr txBox="1"/>
          <p:nvPr/>
        </p:nvSpPr>
        <p:spPr>
          <a:xfrm>
            <a:off x="914400" y="4480560"/>
            <a:ext cx="10241280" cy="1463040"/>
          </a:xfrm>
          <a:prstGeom prst="rect">
            <a:avLst/>
          </a:prstGeom>
          <a:noFill/>
        </p:spPr>
        <p:txBody>
          <a:bodyPr wrap="square">
            <a:spAutoFit/>
          </a:bodyPr>
          <a:lstStyle/>
          <a:p>
            <a:pPr>
              <a:spcAft>
                <a:spcPts val="1000"/>
              </a:spcAft>
              <a:defRPr sz="1500">
                <a:solidFill>
                  <a:srgbClr val="2B2F37"/>
                </a:solidFill>
              </a:defRPr>
            </a:pPr>
            <a:r>
              <a:t>ID lookup uses hashSearch() rather than traversing both lists.</a:t>
            </a:r>
          </a:p>
          <a:p>
            <a:pPr>
              <a:spcAft>
                <a:spcPts val="1000"/>
              </a:spcAft>
              <a:defRPr sz="1500">
                <a:solidFill>
                  <a:srgbClr val="2B2F37"/>
                </a:solidFill>
              </a:defRPr>
            </a:pPr>
            <a:r>
              <a:t>Average hash lookup is O(1) when distribution is reasonable.</a:t>
            </a:r>
          </a:p>
          <a:p>
            <a:pPr>
              <a:spcAft>
                <a:spcPts val="1000"/>
              </a:spcAft>
              <a:defRPr sz="1500">
                <a:solidFill>
                  <a:srgbClr val="2B2F37"/>
                </a:solidFill>
              </a:defRPr>
            </a:pPr>
            <a:r>
              <a:t>TABLE_SIZE is 101.</a:t>
            </a:r>
          </a:p>
          <a:p>
            <a:pPr>
              <a:spcAft>
                <a:spcPts val="1000"/>
              </a:spcAft>
              <a:defRPr sz="1500">
                <a:solidFill>
                  <a:srgbClr val="2B2F37"/>
                </a:solidFill>
              </a:defRPr>
            </a:pPr>
            <a:r>
              <a:t>The hash table stores pointers to existing Item nodes.</a:t>
            </a:r>
          </a:p>
        </p:txBody>
      </p:sp>
      <p:sp>
        <p:nvSpPr>
          <p:cNvPr id="11" name="TextBox 10"/>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480503"/>
            <a:ext cx="6174447" cy="507831"/>
          </a:xfrm>
          <a:prstGeom prst="rect">
            <a:avLst/>
          </a:prstGeom>
          <a:noFill/>
        </p:spPr>
        <p:txBody>
          <a:bodyPr wrap="none">
            <a:spAutoFit/>
          </a:bodyPr>
          <a:lstStyle/>
          <a:p>
            <a:pPr>
              <a:defRPr sz="2700" b="1">
                <a:solidFill>
                  <a:srgbClr val="1C3058"/>
                </a:solidFill>
              </a:defRPr>
            </a:pPr>
            <a:r>
              <a:rPr lang="en-IN" dirty="0"/>
              <a:t>8</a:t>
            </a:r>
            <a:r>
              <a:rPr dirty="0"/>
              <a:t>. Collision Handling — Separate Chaining</a:t>
            </a:r>
          </a:p>
        </p:txBody>
      </p:sp>
      <p:sp>
        <p:nvSpPr>
          <p:cNvPr id="13" name="TextBox 12"/>
          <p:cNvSpPr txBox="1"/>
          <p:nvPr/>
        </p:nvSpPr>
        <p:spPr>
          <a:xfrm>
            <a:off x="600891" y="1837385"/>
            <a:ext cx="5067253" cy="2939266"/>
          </a:xfrm>
          <a:prstGeom prst="rect">
            <a:avLst/>
          </a:prstGeom>
          <a:noFill/>
        </p:spPr>
        <p:txBody>
          <a:bodyPr wrap="square">
            <a:spAutoFit/>
          </a:bodyPr>
          <a:lstStyle/>
          <a:p>
            <a:pPr>
              <a:spcAft>
                <a:spcPts val="1000"/>
              </a:spcAft>
              <a:defRPr sz="1600">
                <a:solidFill>
                  <a:srgbClr val="2B2F37"/>
                </a:solidFill>
              </a:defRPr>
            </a:pPr>
            <a:r>
              <a:rPr sz="2000" dirty="0"/>
              <a:t>A collision occurs when different IDs map to the same bucket.</a:t>
            </a:r>
          </a:p>
          <a:p>
            <a:pPr>
              <a:spcAft>
                <a:spcPts val="1000"/>
              </a:spcAft>
              <a:defRPr sz="1600">
                <a:solidFill>
                  <a:srgbClr val="2B2F37"/>
                </a:solidFill>
              </a:defRPr>
            </a:pPr>
            <a:r>
              <a:rPr sz="2000" dirty="0"/>
              <a:t>Each bucket can contain a linked chain of </a:t>
            </a:r>
            <a:r>
              <a:rPr sz="2000" dirty="0" err="1"/>
              <a:t>HashNode</a:t>
            </a:r>
            <a:r>
              <a:rPr sz="2000" dirty="0"/>
              <a:t> objects.</a:t>
            </a:r>
          </a:p>
          <a:p>
            <a:pPr>
              <a:spcAft>
                <a:spcPts val="1000"/>
              </a:spcAft>
              <a:defRPr sz="1600">
                <a:solidFill>
                  <a:srgbClr val="2B2F37"/>
                </a:solidFill>
              </a:defRPr>
            </a:pPr>
            <a:r>
              <a:rPr sz="2000" dirty="0" err="1"/>
              <a:t>HashNode</a:t>
            </a:r>
            <a:r>
              <a:rPr sz="2000" dirty="0"/>
              <a:t> stores the ID, a pointer to the Item, and next.</a:t>
            </a:r>
          </a:p>
          <a:p>
            <a:pPr>
              <a:spcAft>
                <a:spcPts val="1000"/>
              </a:spcAft>
              <a:defRPr sz="1600">
                <a:solidFill>
                  <a:srgbClr val="2B2F37"/>
                </a:solidFill>
              </a:defRPr>
            </a:pPr>
            <a:r>
              <a:rPr sz="2000" dirty="0" err="1"/>
              <a:t>hashSearch</a:t>
            </a:r>
            <a:r>
              <a:rPr sz="2000" dirty="0"/>
              <a:t>() checks the bucket and follows the chain.</a:t>
            </a:r>
          </a:p>
        </p:txBody>
      </p:sp>
      <p:sp>
        <p:nvSpPr>
          <p:cNvPr id="14" name="TextBox 13"/>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8</a:t>
            </a:r>
          </a:p>
        </p:txBody>
      </p:sp>
      <p:pic>
        <p:nvPicPr>
          <p:cNvPr id="15" name="Picture 14" descr="Hash table collision flowchart">
            <a:extLst>
              <a:ext uri="{FF2B5EF4-FFF2-40B4-BE49-F238E27FC236}">
                <a16:creationId xmlns:a16="http://schemas.microsoft.com/office/drawing/2014/main" id="{C89315A3-DE1B-15E1-A17A-9FFCE87ACD45}"/>
              </a:ext>
            </a:extLst>
          </p:cNvPr>
          <p:cNvPicPr>
            <a:picLocks noChangeAspect="1"/>
          </p:cNvPicPr>
          <p:nvPr/>
        </p:nvPicPr>
        <p:blipFill>
          <a:blip r:embed="rId2"/>
          <a:srcRect t="16619"/>
          <a:stretch>
            <a:fillRect/>
          </a:stretch>
        </p:blipFill>
        <p:spPr>
          <a:xfrm>
            <a:off x="5740659" y="1631437"/>
            <a:ext cx="6028685" cy="335116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1923860" cy="507831"/>
          </a:xfrm>
          <a:prstGeom prst="rect">
            <a:avLst/>
          </a:prstGeom>
          <a:noFill/>
        </p:spPr>
        <p:txBody>
          <a:bodyPr wrap="none">
            <a:spAutoFit/>
          </a:bodyPr>
          <a:lstStyle/>
          <a:p>
            <a:pPr>
              <a:defRPr sz="2700" b="1">
                <a:solidFill>
                  <a:srgbClr val="1C3058"/>
                </a:solidFill>
              </a:defRPr>
            </a:pPr>
            <a:r>
              <a:rPr lang="en-IN" dirty="0"/>
              <a:t>9</a:t>
            </a:r>
            <a:r>
              <a:rPr dirty="0"/>
              <a:t>. Searching</a:t>
            </a:r>
          </a:p>
        </p:txBody>
      </p:sp>
      <p:sp>
        <p:nvSpPr>
          <p:cNvPr id="3" name="TextBox 2"/>
          <p:cNvSpPr txBox="1"/>
          <p:nvPr/>
        </p:nvSpPr>
        <p:spPr>
          <a:xfrm>
            <a:off x="530352" y="768096"/>
            <a:ext cx="5569345" cy="461665"/>
          </a:xfrm>
          <a:prstGeom prst="rect">
            <a:avLst/>
          </a:prstGeom>
          <a:noFill/>
        </p:spPr>
        <p:txBody>
          <a:bodyPr wrap="none">
            <a:spAutoFit/>
          </a:bodyPr>
          <a:lstStyle/>
          <a:p>
            <a:pPr>
              <a:defRPr sz="1250">
                <a:solidFill>
                  <a:srgbClr val="5B626E"/>
                </a:solidFill>
              </a:defRPr>
            </a:pPr>
            <a:r>
              <a:rPr sz="2400" dirty="0"/>
              <a:t>Different searches serve different purposes</a:t>
            </a:r>
          </a:p>
        </p:txBody>
      </p:sp>
      <p:sp>
        <p:nvSpPr>
          <p:cNvPr id="4" name="Rounded Rectangle 3"/>
          <p:cNvSpPr/>
          <p:nvPr/>
        </p:nvSpPr>
        <p:spPr>
          <a:xfrm>
            <a:off x="731520" y="1417320"/>
            <a:ext cx="3246120" cy="14173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27048"/>
            <a:ext cx="2971800" cy="1046440"/>
          </a:xfrm>
          <a:prstGeom prst="rect">
            <a:avLst/>
          </a:prstGeom>
          <a:noFill/>
        </p:spPr>
        <p:txBody>
          <a:bodyPr wrap="square">
            <a:spAutoFit/>
          </a:bodyPr>
          <a:lstStyle/>
          <a:p>
            <a:pPr>
              <a:defRPr sz="1700" b="1">
                <a:solidFill>
                  <a:srgbClr val="3766AA"/>
                </a:solidFill>
              </a:defRPr>
            </a:pPr>
            <a:r>
              <a:rPr dirty="0"/>
              <a:t>ID Search</a:t>
            </a:r>
          </a:p>
          <a:p>
            <a:pPr>
              <a:spcBef>
                <a:spcPts val="600"/>
              </a:spcBef>
              <a:defRPr sz="1350">
                <a:solidFill>
                  <a:srgbClr val="2B2F37"/>
                </a:solidFill>
              </a:defRPr>
            </a:pPr>
            <a:r>
              <a:rPr sz="2000" dirty="0"/>
              <a:t>Hash Search</a:t>
            </a:r>
            <a:br>
              <a:rPr sz="2000" dirty="0"/>
            </a:br>
            <a:r>
              <a:rPr sz="2000" dirty="0"/>
              <a:t>Average O(1)</a:t>
            </a:r>
          </a:p>
        </p:txBody>
      </p:sp>
      <p:sp>
        <p:nvSpPr>
          <p:cNvPr id="6" name="Rounded Rectangle 5"/>
          <p:cNvSpPr/>
          <p:nvPr/>
        </p:nvSpPr>
        <p:spPr>
          <a:xfrm>
            <a:off x="4480560" y="1417320"/>
            <a:ext cx="3246120" cy="14173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17720" y="1527048"/>
            <a:ext cx="2971800" cy="1046440"/>
          </a:xfrm>
          <a:prstGeom prst="rect">
            <a:avLst/>
          </a:prstGeom>
          <a:noFill/>
        </p:spPr>
        <p:txBody>
          <a:bodyPr wrap="square">
            <a:spAutoFit/>
          </a:bodyPr>
          <a:lstStyle/>
          <a:p>
            <a:pPr>
              <a:defRPr sz="1700" b="1">
                <a:solidFill>
                  <a:srgbClr val="3766AA"/>
                </a:solidFill>
              </a:defRPr>
            </a:pPr>
            <a:r>
              <a:rPr dirty="0"/>
              <a:t>Name / Category / Location</a:t>
            </a:r>
          </a:p>
          <a:p>
            <a:pPr>
              <a:spcBef>
                <a:spcPts val="600"/>
              </a:spcBef>
              <a:defRPr sz="1350">
                <a:solidFill>
                  <a:srgbClr val="2B2F37"/>
                </a:solidFill>
              </a:defRPr>
            </a:pPr>
            <a:r>
              <a:rPr sz="2000" dirty="0"/>
              <a:t>Linked-list traversal</a:t>
            </a:r>
            <a:br>
              <a:rPr sz="2000" dirty="0"/>
            </a:br>
            <a:r>
              <a:rPr sz="2000" dirty="0"/>
              <a:t>O(n)</a:t>
            </a:r>
          </a:p>
        </p:txBody>
      </p:sp>
      <p:sp>
        <p:nvSpPr>
          <p:cNvPr id="8" name="Rounded Rectangle 7"/>
          <p:cNvSpPr/>
          <p:nvPr/>
        </p:nvSpPr>
        <p:spPr>
          <a:xfrm>
            <a:off x="8229600" y="1417320"/>
            <a:ext cx="3246120" cy="14173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66760" y="1527048"/>
            <a:ext cx="3108960" cy="1046440"/>
          </a:xfrm>
          <a:prstGeom prst="rect">
            <a:avLst/>
          </a:prstGeom>
          <a:noFill/>
        </p:spPr>
        <p:txBody>
          <a:bodyPr wrap="square">
            <a:spAutoFit/>
          </a:bodyPr>
          <a:lstStyle/>
          <a:p>
            <a:pPr>
              <a:defRPr sz="1700" b="1">
                <a:solidFill>
                  <a:srgbClr val="3766AA"/>
                </a:solidFill>
              </a:defRPr>
            </a:pPr>
            <a:r>
              <a:rPr dirty="0"/>
              <a:t>Case-insensitive</a:t>
            </a:r>
          </a:p>
          <a:p>
            <a:pPr>
              <a:spcBef>
                <a:spcPts val="600"/>
              </a:spcBef>
              <a:defRPr sz="1350">
                <a:solidFill>
                  <a:srgbClr val="2B2F37"/>
                </a:solidFill>
              </a:defRPr>
            </a:pPr>
            <a:r>
              <a:rPr sz="2000" dirty="0"/>
              <a:t>User can search without matching letter case exactly.</a:t>
            </a:r>
          </a:p>
        </p:txBody>
      </p:sp>
      <p:sp>
        <p:nvSpPr>
          <p:cNvPr id="10" name="Rounded Rectangle 9"/>
          <p:cNvSpPr/>
          <p:nvPr/>
        </p:nvSpPr>
        <p:spPr>
          <a:xfrm>
            <a:off x="914400" y="3246120"/>
            <a:ext cx="10058400" cy="1828800"/>
          </a:xfrm>
          <a:prstGeom prst="roundRect">
            <a:avLst/>
          </a:prstGeom>
          <a:solidFill>
            <a:srgbClr val="1E232D"/>
          </a:solidFill>
          <a:ln>
            <a:solidFill>
              <a:srgbClr val="464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60704" y="3337560"/>
            <a:ext cx="9765792" cy="1664208"/>
          </a:xfrm>
          <a:prstGeom prst="rect">
            <a:avLst/>
          </a:prstGeom>
          <a:noFill/>
        </p:spPr>
        <p:txBody>
          <a:bodyPr wrap="none">
            <a:spAutoFit/>
          </a:bodyPr>
          <a:lstStyle/>
          <a:p>
            <a:pPr>
              <a:defRPr sz="1300">
                <a:solidFill>
                  <a:srgbClr val="FFFFFF"/>
                </a:solidFill>
                <a:latin typeface="Consolas"/>
              </a:defRPr>
            </a:pPr>
            <a:r>
              <a:t>item = hashSearch(id);</a:t>
            </a:r>
            <a:br/>
            <a:br/>
            <a:r>
              <a:t>if (item != NULL)</a:t>
            </a:r>
            <a:br/>
            <a:r>
              <a:t>    displayItem(item);</a:t>
            </a:r>
            <a:br/>
            <a:r>
              <a:t>else</a:t>
            </a:r>
            <a:br/>
            <a:r>
              <a:t>    printf("Item not found.");</a:t>
            </a:r>
          </a:p>
        </p:txBody>
      </p:sp>
      <p:sp>
        <p:nvSpPr>
          <p:cNvPr id="12" name="TextBox 11"/>
          <p:cNvSpPr txBox="1"/>
          <p:nvPr/>
        </p:nvSpPr>
        <p:spPr>
          <a:xfrm>
            <a:off x="914400" y="5349240"/>
            <a:ext cx="10058400" cy="836126"/>
          </a:xfrm>
          <a:prstGeom prst="rect">
            <a:avLst/>
          </a:prstGeom>
          <a:noFill/>
        </p:spPr>
        <p:txBody>
          <a:bodyPr wrap="square">
            <a:spAutoFit/>
          </a:bodyPr>
          <a:lstStyle/>
          <a:p>
            <a:pPr>
              <a:spcAft>
                <a:spcPts val="1000"/>
              </a:spcAft>
              <a:defRPr sz="1400">
                <a:solidFill>
                  <a:srgbClr val="2B2F37"/>
                </a:solidFill>
              </a:defRPr>
            </a:pPr>
            <a:r>
              <a:rPr sz="2000" dirty="0"/>
              <a:t>Numeric IDs are directly indexed through hashing.</a:t>
            </a:r>
          </a:p>
          <a:p>
            <a:pPr>
              <a:spcAft>
                <a:spcPts val="1000"/>
              </a:spcAft>
              <a:defRPr sz="1400">
                <a:solidFill>
                  <a:srgbClr val="2B2F37"/>
                </a:solidFill>
              </a:defRPr>
            </a:pPr>
            <a:r>
              <a:rPr sz="2000" dirty="0"/>
              <a:t>Text fields are searched sequentially through the lost and found lists.</a:t>
            </a:r>
          </a:p>
        </p:txBody>
      </p:sp>
      <p:sp>
        <p:nvSpPr>
          <p:cNvPr id="13" name="TextBox 12"/>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3573479" cy="507831"/>
          </a:xfrm>
          <a:prstGeom prst="rect">
            <a:avLst/>
          </a:prstGeom>
          <a:noFill/>
        </p:spPr>
        <p:txBody>
          <a:bodyPr wrap="none">
            <a:spAutoFit/>
          </a:bodyPr>
          <a:lstStyle/>
          <a:p>
            <a:pPr>
              <a:defRPr sz="2700" b="1">
                <a:solidFill>
                  <a:srgbClr val="1C3058"/>
                </a:solidFill>
              </a:defRPr>
            </a:pPr>
            <a:r>
              <a:rPr lang="en-IN" dirty="0"/>
              <a:t>10</a:t>
            </a:r>
            <a:r>
              <a:rPr dirty="0"/>
              <a:t>. Matching Algorithm</a:t>
            </a:r>
          </a:p>
        </p:txBody>
      </p:sp>
      <p:sp>
        <p:nvSpPr>
          <p:cNvPr id="3" name="TextBox 2"/>
          <p:cNvSpPr txBox="1"/>
          <p:nvPr/>
        </p:nvSpPr>
        <p:spPr>
          <a:xfrm>
            <a:off x="530352" y="768096"/>
            <a:ext cx="10972800" cy="320040"/>
          </a:xfrm>
          <a:prstGeom prst="rect">
            <a:avLst/>
          </a:prstGeom>
          <a:noFill/>
        </p:spPr>
        <p:txBody>
          <a:bodyPr wrap="none">
            <a:spAutoFit/>
          </a:bodyPr>
          <a:lstStyle/>
          <a:p>
            <a:pPr>
              <a:defRPr sz="1250">
                <a:solidFill>
                  <a:srgbClr val="5B626E"/>
                </a:solidFill>
              </a:defRPr>
            </a:pPr>
            <a:r>
              <a:t>Rule-based scoring — not AI</a:t>
            </a:r>
          </a:p>
        </p:txBody>
      </p:sp>
      <p:sp>
        <p:nvSpPr>
          <p:cNvPr id="4" name="Rounded Rectangle 3"/>
          <p:cNvSpPr/>
          <p:nvPr/>
        </p:nvSpPr>
        <p:spPr>
          <a:xfrm>
            <a:off x="502920" y="1417320"/>
            <a:ext cx="201168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27048"/>
            <a:ext cx="1737360" cy="960120"/>
          </a:xfrm>
          <a:prstGeom prst="rect">
            <a:avLst/>
          </a:prstGeom>
          <a:noFill/>
        </p:spPr>
        <p:txBody>
          <a:bodyPr wrap="square">
            <a:spAutoFit/>
          </a:bodyPr>
          <a:lstStyle/>
          <a:p>
            <a:pPr>
              <a:defRPr sz="1700" b="1">
                <a:solidFill>
                  <a:srgbClr val="3766AA"/>
                </a:solidFill>
              </a:defRPr>
            </a:pPr>
            <a:r>
              <a:t>Name</a:t>
            </a:r>
          </a:p>
          <a:p>
            <a:pPr>
              <a:spcBef>
                <a:spcPts val="600"/>
              </a:spcBef>
              <a:defRPr sz="1350">
                <a:solidFill>
                  <a:srgbClr val="2B2F37"/>
                </a:solidFill>
              </a:defRPr>
            </a:pPr>
            <a:r>
              <a:t>40 points</a:t>
            </a:r>
          </a:p>
        </p:txBody>
      </p:sp>
      <p:sp>
        <p:nvSpPr>
          <p:cNvPr id="6" name="Rounded Rectangle 5"/>
          <p:cNvSpPr/>
          <p:nvPr/>
        </p:nvSpPr>
        <p:spPr>
          <a:xfrm>
            <a:off x="2834639" y="1417320"/>
            <a:ext cx="201168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71799" y="1527048"/>
            <a:ext cx="1737360" cy="960120"/>
          </a:xfrm>
          <a:prstGeom prst="rect">
            <a:avLst/>
          </a:prstGeom>
          <a:noFill/>
        </p:spPr>
        <p:txBody>
          <a:bodyPr wrap="square">
            <a:spAutoFit/>
          </a:bodyPr>
          <a:lstStyle/>
          <a:p>
            <a:pPr>
              <a:defRPr sz="1700" b="1">
                <a:solidFill>
                  <a:srgbClr val="3766AA"/>
                </a:solidFill>
              </a:defRPr>
            </a:pPr>
            <a:r>
              <a:t>Category</a:t>
            </a:r>
          </a:p>
          <a:p>
            <a:pPr>
              <a:spcBef>
                <a:spcPts val="600"/>
              </a:spcBef>
              <a:defRPr sz="1350">
                <a:solidFill>
                  <a:srgbClr val="2B2F37"/>
                </a:solidFill>
              </a:defRPr>
            </a:pPr>
            <a:r>
              <a:t>20 points</a:t>
            </a:r>
          </a:p>
        </p:txBody>
      </p:sp>
      <p:sp>
        <p:nvSpPr>
          <p:cNvPr id="8" name="Rounded Rectangle 7"/>
          <p:cNvSpPr/>
          <p:nvPr/>
        </p:nvSpPr>
        <p:spPr>
          <a:xfrm>
            <a:off x="5166359" y="1417320"/>
            <a:ext cx="201168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0" y="1527048"/>
            <a:ext cx="1737360" cy="960120"/>
          </a:xfrm>
          <a:prstGeom prst="rect">
            <a:avLst/>
          </a:prstGeom>
          <a:noFill/>
        </p:spPr>
        <p:txBody>
          <a:bodyPr wrap="square">
            <a:spAutoFit/>
          </a:bodyPr>
          <a:lstStyle/>
          <a:p>
            <a:pPr>
              <a:defRPr sz="1700" b="1">
                <a:solidFill>
                  <a:srgbClr val="3766AA"/>
                </a:solidFill>
              </a:defRPr>
            </a:pPr>
            <a:r>
              <a:t>Color</a:t>
            </a:r>
          </a:p>
          <a:p>
            <a:pPr>
              <a:spcBef>
                <a:spcPts val="600"/>
              </a:spcBef>
              <a:defRPr sz="1350">
                <a:solidFill>
                  <a:srgbClr val="2B2F37"/>
                </a:solidFill>
              </a:defRPr>
            </a:pPr>
            <a:r>
              <a:t>15 points</a:t>
            </a:r>
          </a:p>
        </p:txBody>
      </p:sp>
      <p:sp>
        <p:nvSpPr>
          <p:cNvPr id="10" name="Rounded Rectangle 9"/>
          <p:cNvSpPr/>
          <p:nvPr/>
        </p:nvSpPr>
        <p:spPr>
          <a:xfrm>
            <a:off x="7498079" y="1417320"/>
            <a:ext cx="201168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35240" y="1527048"/>
            <a:ext cx="1737360" cy="638636"/>
          </a:xfrm>
          <a:prstGeom prst="rect">
            <a:avLst/>
          </a:prstGeom>
          <a:noFill/>
        </p:spPr>
        <p:txBody>
          <a:bodyPr wrap="square">
            <a:spAutoFit/>
          </a:bodyPr>
          <a:lstStyle/>
          <a:p>
            <a:pPr>
              <a:defRPr sz="1700" b="1">
                <a:solidFill>
                  <a:srgbClr val="3766AA"/>
                </a:solidFill>
              </a:defRPr>
            </a:pPr>
            <a:r>
              <a:rPr dirty="0"/>
              <a:t>Location</a:t>
            </a:r>
          </a:p>
          <a:p>
            <a:pPr>
              <a:spcBef>
                <a:spcPts val="600"/>
              </a:spcBef>
              <a:defRPr sz="1350">
                <a:solidFill>
                  <a:srgbClr val="2B2F37"/>
                </a:solidFill>
              </a:defRPr>
            </a:pPr>
            <a:r>
              <a:rPr lang="en-IN" dirty="0"/>
              <a:t>2</a:t>
            </a:r>
            <a:r>
              <a:rPr dirty="0"/>
              <a:t>5 points</a:t>
            </a:r>
          </a:p>
        </p:txBody>
      </p:sp>
      <p:sp>
        <p:nvSpPr>
          <p:cNvPr id="12" name="Rounded Rectangle 11"/>
          <p:cNvSpPr/>
          <p:nvPr/>
        </p:nvSpPr>
        <p:spPr>
          <a:xfrm>
            <a:off x="9829800" y="1417320"/>
            <a:ext cx="201168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966960" y="1485900"/>
            <a:ext cx="1737360" cy="638636"/>
          </a:xfrm>
          <a:prstGeom prst="rect">
            <a:avLst/>
          </a:prstGeom>
          <a:noFill/>
        </p:spPr>
        <p:txBody>
          <a:bodyPr wrap="square">
            <a:spAutoFit/>
          </a:bodyPr>
          <a:lstStyle/>
          <a:p>
            <a:pPr>
              <a:defRPr sz="1700" b="1">
                <a:solidFill>
                  <a:srgbClr val="3766AA"/>
                </a:solidFill>
              </a:defRPr>
            </a:pPr>
            <a:r>
              <a:rPr dirty="0"/>
              <a:t>Date</a:t>
            </a:r>
          </a:p>
          <a:p>
            <a:pPr>
              <a:spcBef>
                <a:spcPts val="600"/>
              </a:spcBef>
              <a:defRPr sz="1350">
                <a:solidFill>
                  <a:srgbClr val="2B2F37"/>
                </a:solidFill>
              </a:defRPr>
            </a:pPr>
            <a:r>
              <a:rPr dirty="0"/>
              <a:t>0 points</a:t>
            </a:r>
          </a:p>
        </p:txBody>
      </p:sp>
      <p:sp>
        <p:nvSpPr>
          <p:cNvPr id="14" name="Rounded Rectangle 13"/>
          <p:cNvSpPr/>
          <p:nvPr/>
        </p:nvSpPr>
        <p:spPr>
          <a:xfrm>
            <a:off x="822960" y="2971800"/>
            <a:ext cx="10469880" cy="2331720"/>
          </a:xfrm>
          <a:prstGeom prst="roundRect">
            <a:avLst/>
          </a:prstGeom>
          <a:solidFill>
            <a:srgbClr val="1E232D"/>
          </a:solidFill>
          <a:ln>
            <a:solidFill>
              <a:srgbClr val="464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9264" y="3063240"/>
            <a:ext cx="10177272" cy="2167127"/>
          </a:xfrm>
          <a:prstGeom prst="rect">
            <a:avLst/>
          </a:prstGeom>
          <a:noFill/>
        </p:spPr>
        <p:txBody>
          <a:bodyPr wrap="none">
            <a:spAutoFit/>
          </a:bodyPr>
          <a:lstStyle/>
          <a:p>
            <a:pPr>
              <a:defRPr sz="1100">
                <a:solidFill>
                  <a:srgbClr val="FFFFFF"/>
                </a:solidFill>
                <a:latin typeface="Consolas"/>
              </a:defRPr>
            </a:pPr>
            <a:r>
              <a:t>int calculateMatchScore(Item *lost, Item *found)</a:t>
            </a:r>
            <a:br/>
            <a:r>
              <a:t>{</a:t>
            </a:r>
            <a:br/>
            <a:r>
              <a:t>    int score = 0;</a:t>
            </a:r>
            <a:br/>
            <a:r>
              <a:t>    if (stringEqualIgnoreCase(lost-&gt;name, found-&gt;name))</a:t>
            </a:r>
            <a:br/>
            <a:r>
              <a:t>        score += 40;</a:t>
            </a:r>
            <a:br/>
            <a:r>
              <a:t>    if (stringEqualIgnoreCase(lost-&gt;category, found-&gt;category))</a:t>
            </a:r>
            <a:br/>
            <a:r>
              <a:t>        score += 20;</a:t>
            </a:r>
            <a:br/>
            <a:r>
              <a:t>    ...</a:t>
            </a:r>
            <a:br/>
            <a:r>
              <a:t>    return score;</a:t>
            </a:r>
            <a:br/>
            <a:r>
              <a:t>}</a:t>
            </a:r>
          </a:p>
        </p:txBody>
      </p:sp>
      <p:sp>
        <p:nvSpPr>
          <p:cNvPr id="16" name="TextBox 15"/>
          <p:cNvSpPr txBox="1"/>
          <p:nvPr/>
        </p:nvSpPr>
        <p:spPr>
          <a:xfrm>
            <a:off x="914400" y="5496232"/>
            <a:ext cx="10149840" cy="685800"/>
          </a:xfrm>
          <a:prstGeom prst="rect">
            <a:avLst/>
          </a:prstGeom>
          <a:noFill/>
        </p:spPr>
        <p:txBody>
          <a:bodyPr wrap="square">
            <a:spAutoFit/>
          </a:bodyPr>
          <a:lstStyle/>
          <a:p>
            <a:pPr>
              <a:spcAft>
                <a:spcPts val="1000"/>
              </a:spcAft>
              <a:defRPr sz="1300">
                <a:solidFill>
                  <a:srgbClr val="2B2F37"/>
                </a:solidFill>
              </a:defRPr>
            </a:pPr>
            <a:r>
              <a:t>Maximum score = 100.</a:t>
            </a:r>
          </a:p>
          <a:p>
            <a:pPr>
              <a:spcAft>
                <a:spcPts val="1000"/>
              </a:spcAft>
              <a:defRPr sz="1300">
                <a:solidFill>
                  <a:srgbClr val="2B2F37"/>
                </a:solidFill>
              </a:defRPr>
            </a:pPr>
            <a:r>
              <a:t>80–100: Strong Match | 50–79: Possible Match | 30–49: Weak Match.</a:t>
            </a:r>
          </a:p>
        </p:txBody>
      </p:sp>
      <p:sp>
        <p:nvSpPr>
          <p:cNvPr id="17" name="TextBox 16"/>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3425490" cy="507831"/>
          </a:xfrm>
          <a:prstGeom prst="rect">
            <a:avLst/>
          </a:prstGeom>
          <a:noFill/>
        </p:spPr>
        <p:txBody>
          <a:bodyPr wrap="none">
            <a:spAutoFit/>
          </a:bodyPr>
          <a:lstStyle/>
          <a:p>
            <a:pPr>
              <a:defRPr sz="2700" b="1">
                <a:solidFill>
                  <a:srgbClr val="1C3058"/>
                </a:solidFill>
              </a:defRPr>
            </a:pPr>
            <a:r>
              <a:rPr dirty="0"/>
              <a:t>1</a:t>
            </a:r>
            <a:r>
              <a:rPr lang="en-IN" dirty="0"/>
              <a:t>1</a:t>
            </a:r>
            <a:r>
              <a:rPr dirty="0"/>
              <a:t>. Matching Call Flow</a:t>
            </a:r>
          </a:p>
        </p:txBody>
      </p:sp>
      <p:sp>
        <p:nvSpPr>
          <p:cNvPr id="3" name="Rounded Rectangle 2"/>
          <p:cNvSpPr/>
          <p:nvPr/>
        </p:nvSpPr>
        <p:spPr>
          <a:xfrm>
            <a:off x="320040" y="1508760"/>
            <a:ext cx="169164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18488"/>
            <a:ext cx="1417320" cy="822960"/>
          </a:xfrm>
          <a:prstGeom prst="rect">
            <a:avLst/>
          </a:prstGeom>
          <a:noFill/>
        </p:spPr>
        <p:txBody>
          <a:bodyPr wrap="square">
            <a:spAutoFit/>
          </a:bodyPr>
          <a:lstStyle/>
          <a:p>
            <a:pPr>
              <a:defRPr sz="1700" b="1">
                <a:solidFill>
                  <a:srgbClr val="3766AA"/>
                </a:solidFill>
              </a:defRPr>
            </a:pPr>
            <a:r>
              <a:t>Lost ID</a:t>
            </a:r>
          </a:p>
          <a:p>
            <a:pPr>
              <a:spcBef>
                <a:spcPts val="600"/>
              </a:spcBef>
              <a:defRPr sz="1350">
                <a:solidFill>
                  <a:srgbClr val="2B2F37"/>
                </a:solidFill>
              </a:defRPr>
            </a:pPr>
            <a:endParaRPr/>
          </a:p>
        </p:txBody>
      </p:sp>
      <p:sp>
        <p:nvSpPr>
          <p:cNvPr id="5" name="Right Arrow 4"/>
          <p:cNvSpPr/>
          <p:nvPr/>
        </p:nvSpPr>
        <p:spPr>
          <a:xfrm>
            <a:off x="2029968" y="1847088"/>
            <a:ext cx="256032" cy="22860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286000" y="1508760"/>
            <a:ext cx="169164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423160" y="1618488"/>
            <a:ext cx="1417320" cy="822960"/>
          </a:xfrm>
          <a:prstGeom prst="rect">
            <a:avLst/>
          </a:prstGeom>
          <a:noFill/>
        </p:spPr>
        <p:txBody>
          <a:bodyPr wrap="square">
            <a:spAutoFit/>
          </a:bodyPr>
          <a:lstStyle/>
          <a:p>
            <a:pPr>
              <a:defRPr sz="1700" b="1">
                <a:solidFill>
                  <a:srgbClr val="3766AA"/>
                </a:solidFill>
              </a:defRPr>
            </a:pPr>
            <a:r>
              <a:t>hashSearch()</a:t>
            </a:r>
          </a:p>
          <a:p>
            <a:pPr>
              <a:spcBef>
                <a:spcPts val="600"/>
              </a:spcBef>
              <a:defRPr sz="1350">
                <a:solidFill>
                  <a:srgbClr val="2B2F37"/>
                </a:solidFill>
              </a:defRPr>
            </a:pPr>
            <a:endParaRPr/>
          </a:p>
        </p:txBody>
      </p:sp>
      <p:sp>
        <p:nvSpPr>
          <p:cNvPr id="8" name="Right Arrow 7"/>
          <p:cNvSpPr/>
          <p:nvPr/>
        </p:nvSpPr>
        <p:spPr>
          <a:xfrm>
            <a:off x="3995928" y="1847088"/>
            <a:ext cx="256032" cy="22860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251959" y="1508760"/>
            <a:ext cx="169164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0" y="1618488"/>
            <a:ext cx="1417320" cy="822960"/>
          </a:xfrm>
          <a:prstGeom prst="rect">
            <a:avLst/>
          </a:prstGeom>
          <a:noFill/>
        </p:spPr>
        <p:txBody>
          <a:bodyPr wrap="square">
            <a:spAutoFit/>
          </a:bodyPr>
          <a:lstStyle/>
          <a:p>
            <a:pPr>
              <a:defRPr sz="1700" b="1">
                <a:solidFill>
                  <a:srgbClr val="3766AA"/>
                </a:solidFill>
              </a:defRPr>
            </a:pPr>
            <a:r>
              <a:t>Lost Item</a:t>
            </a:r>
          </a:p>
          <a:p>
            <a:pPr>
              <a:spcBef>
                <a:spcPts val="600"/>
              </a:spcBef>
              <a:defRPr sz="1350">
                <a:solidFill>
                  <a:srgbClr val="2B2F37"/>
                </a:solidFill>
              </a:defRPr>
            </a:pPr>
            <a:endParaRPr/>
          </a:p>
        </p:txBody>
      </p:sp>
      <p:sp>
        <p:nvSpPr>
          <p:cNvPr id="11" name="Right Arrow 10"/>
          <p:cNvSpPr/>
          <p:nvPr/>
        </p:nvSpPr>
        <p:spPr>
          <a:xfrm>
            <a:off x="5961888" y="1847088"/>
            <a:ext cx="256032" cy="22860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217919" y="1508760"/>
            <a:ext cx="169164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79" y="1618488"/>
            <a:ext cx="1417320" cy="822960"/>
          </a:xfrm>
          <a:prstGeom prst="rect">
            <a:avLst/>
          </a:prstGeom>
          <a:noFill/>
        </p:spPr>
        <p:txBody>
          <a:bodyPr wrap="square">
            <a:spAutoFit/>
          </a:bodyPr>
          <a:lstStyle/>
          <a:p>
            <a:pPr>
              <a:defRPr sz="1700" b="1">
                <a:solidFill>
                  <a:srgbClr val="3766AA"/>
                </a:solidFill>
              </a:defRPr>
            </a:pPr>
            <a:r>
              <a:t>foundHead</a:t>
            </a:r>
          </a:p>
          <a:p>
            <a:pPr>
              <a:spcBef>
                <a:spcPts val="600"/>
              </a:spcBef>
              <a:defRPr sz="1350">
                <a:solidFill>
                  <a:srgbClr val="2B2F37"/>
                </a:solidFill>
              </a:defRPr>
            </a:pPr>
            <a:endParaRPr/>
          </a:p>
        </p:txBody>
      </p:sp>
      <p:sp>
        <p:nvSpPr>
          <p:cNvPr id="14" name="Right Arrow 13"/>
          <p:cNvSpPr/>
          <p:nvPr/>
        </p:nvSpPr>
        <p:spPr>
          <a:xfrm>
            <a:off x="7927847" y="1847088"/>
            <a:ext cx="256032" cy="22860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183879" y="1508760"/>
            <a:ext cx="169164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618488"/>
            <a:ext cx="1417320" cy="822960"/>
          </a:xfrm>
          <a:prstGeom prst="rect">
            <a:avLst/>
          </a:prstGeom>
          <a:noFill/>
        </p:spPr>
        <p:txBody>
          <a:bodyPr wrap="square">
            <a:spAutoFit/>
          </a:bodyPr>
          <a:lstStyle/>
          <a:p>
            <a:pPr>
              <a:defRPr sz="1700" b="1">
                <a:solidFill>
                  <a:srgbClr val="3766AA"/>
                </a:solidFill>
              </a:defRPr>
            </a:pPr>
            <a:r>
              <a:t>calculateMatchScore()</a:t>
            </a:r>
          </a:p>
          <a:p>
            <a:pPr>
              <a:spcBef>
                <a:spcPts val="600"/>
              </a:spcBef>
              <a:defRPr sz="1350">
                <a:solidFill>
                  <a:srgbClr val="2B2F37"/>
                </a:solidFill>
              </a:defRPr>
            </a:pPr>
            <a:endParaRPr/>
          </a:p>
        </p:txBody>
      </p:sp>
      <p:sp>
        <p:nvSpPr>
          <p:cNvPr id="17" name="Right Arrow 16"/>
          <p:cNvSpPr/>
          <p:nvPr/>
        </p:nvSpPr>
        <p:spPr>
          <a:xfrm>
            <a:off x="9893808" y="1847088"/>
            <a:ext cx="256032" cy="228600"/>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149840" y="1508760"/>
            <a:ext cx="1691640" cy="100584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287000" y="1618488"/>
            <a:ext cx="1417320" cy="822960"/>
          </a:xfrm>
          <a:prstGeom prst="rect">
            <a:avLst/>
          </a:prstGeom>
          <a:noFill/>
        </p:spPr>
        <p:txBody>
          <a:bodyPr wrap="square">
            <a:spAutoFit/>
          </a:bodyPr>
          <a:lstStyle/>
          <a:p>
            <a:pPr>
              <a:defRPr sz="1700" b="1">
                <a:solidFill>
                  <a:srgbClr val="3766AA"/>
                </a:solidFill>
              </a:defRPr>
            </a:pPr>
            <a:r>
              <a:t>Score ≥ 30?</a:t>
            </a:r>
          </a:p>
          <a:p>
            <a:pPr>
              <a:spcBef>
                <a:spcPts val="600"/>
              </a:spcBef>
              <a:defRPr sz="1350">
                <a:solidFill>
                  <a:srgbClr val="2B2F37"/>
                </a:solidFill>
              </a:defRPr>
            </a:pPr>
            <a:endParaRPr/>
          </a:p>
        </p:txBody>
      </p:sp>
      <p:sp>
        <p:nvSpPr>
          <p:cNvPr id="20" name="TextBox 19"/>
          <p:cNvSpPr txBox="1"/>
          <p:nvPr/>
        </p:nvSpPr>
        <p:spPr>
          <a:xfrm>
            <a:off x="822960" y="3246120"/>
            <a:ext cx="10515600" cy="2286000"/>
          </a:xfrm>
          <a:prstGeom prst="rect">
            <a:avLst/>
          </a:prstGeom>
          <a:noFill/>
        </p:spPr>
        <p:txBody>
          <a:bodyPr wrap="square">
            <a:spAutoFit/>
          </a:bodyPr>
          <a:lstStyle/>
          <a:p>
            <a:pPr>
              <a:spcAft>
                <a:spcPts val="1000"/>
              </a:spcAft>
              <a:defRPr sz="1600">
                <a:solidFill>
                  <a:srgbClr val="2B2F37"/>
                </a:solidFill>
              </a:defRPr>
            </a:pPr>
            <a:r>
              <a:t>First, the lost record is located by ID.</a:t>
            </a:r>
          </a:p>
          <a:p>
            <a:pPr>
              <a:spcAft>
                <a:spcPts val="1000"/>
              </a:spcAft>
              <a:defRPr sz="1600">
                <a:solidFill>
                  <a:srgbClr val="2B2F37"/>
                </a:solidFill>
              </a:defRPr>
            </a:pPr>
            <a:r>
              <a:t>Then every active found record is compared.</a:t>
            </a:r>
          </a:p>
          <a:p>
            <a:pPr>
              <a:spcAft>
                <a:spcPts val="1000"/>
              </a:spcAft>
              <a:defRPr sz="1600">
                <a:solidFill>
                  <a:srgbClr val="2B2F37"/>
                </a:solidFill>
              </a:defRPr>
            </a:pPr>
            <a:r>
              <a:t>Each comparison produces a weighted score.</a:t>
            </a:r>
          </a:p>
          <a:p>
            <a:pPr>
              <a:spcAft>
                <a:spcPts val="1000"/>
              </a:spcAft>
              <a:defRPr sz="1600">
                <a:solidFill>
                  <a:srgbClr val="2B2F37"/>
                </a:solidFill>
              </a:defRPr>
            </a:pPr>
            <a:r>
              <a:t>Only records meeting the display threshold are shown.</a:t>
            </a:r>
          </a:p>
          <a:p>
            <a:pPr>
              <a:spcAft>
                <a:spcPts val="1000"/>
              </a:spcAft>
              <a:defRPr sz="1600">
                <a:solidFill>
                  <a:srgbClr val="2B2F37"/>
                </a:solidFill>
              </a:defRPr>
            </a:pPr>
            <a:r>
              <a:t>The scan of found records is O(m), where m is the number of found records.</a:t>
            </a:r>
          </a:p>
        </p:txBody>
      </p:sp>
      <p:sp>
        <p:nvSpPr>
          <p:cNvPr id="21" name="TextBox 20"/>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5800499" cy="507831"/>
          </a:xfrm>
          <a:prstGeom prst="rect">
            <a:avLst/>
          </a:prstGeom>
          <a:noFill/>
        </p:spPr>
        <p:txBody>
          <a:bodyPr wrap="none">
            <a:spAutoFit/>
          </a:bodyPr>
          <a:lstStyle/>
          <a:p>
            <a:pPr>
              <a:defRPr sz="2700" b="1">
                <a:solidFill>
                  <a:srgbClr val="1C3058"/>
                </a:solidFill>
              </a:defRPr>
            </a:pPr>
            <a:r>
              <a:rPr dirty="0"/>
              <a:t>1</a:t>
            </a:r>
            <a:r>
              <a:rPr lang="en-IN" dirty="0"/>
              <a:t>2</a:t>
            </a:r>
            <a:r>
              <a:rPr dirty="0"/>
              <a:t>. File Handling — Permanent Storage</a:t>
            </a:r>
          </a:p>
        </p:txBody>
      </p:sp>
      <p:sp>
        <p:nvSpPr>
          <p:cNvPr id="3" name="Rounded Rectangle 2"/>
          <p:cNvSpPr/>
          <p:nvPr/>
        </p:nvSpPr>
        <p:spPr>
          <a:xfrm>
            <a:off x="731520" y="1325880"/>
            <a:ext cx="246888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35607"/>
            <a:ext cx="2194560" cy="960120"/>
          </a:xfrm>
          <a:prstGeom prst="rect">
            <a:avLst/>
          </a:prstGeom>
          <a:noFill/>
        </p:spPr>
        <p:txBody>
          <a:bodyPr wrap="square">
            <a:spAutoFit/>
          </a:bodyPr>
          <a:lstStyle/>
          <a:p>
            <a:pPr>
              <a:defRPr sz="1700" b="1">
                <a:solidFill>
                  <a:srgbClr val="3766AA"/>
                </a:solidFill>
              </a:defRPr>
            </a:pPr>
            <a:r>
              <a:t>Program Start</a:t>
            </a:r>
          </a:p>
          <a:p>
            <a:pPr>
              <a:spcBef>
                <a:spcPts val="600"/>
              </a:spcBef>
              <a:defRPr sz="1350">
                <a:solidFill>
                  <a:srgbClr val="2B2F37"/>
                </a:solidFill>
              </a:defRPr>
            </a:pPr>
            <a:r>
              <a:t>loadAllData()</a:t>
            </a:r>
          </a:p>
        </p:txBody>
      </p:sp>
      <p:sp>
        <p:nvSpPr>
          <p:cNvPr id="5" name="Rounded Rectangle 4"/>
          <p:cNvSpPr/>
          <p:nvPr/>
        </p:nvSpPr>
        <p:spPr>
          <a:xfrm>
            <a:off x="3657600" y="1325880"/>
            <a:ext cx="265176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794760" y="1435607"/>
            <a:ext cx="2377440" cy="960120"/>
          </a:xfrm>
          <a:prstGeom prst="rect">
            <a:avLst/>
          </a:prstGeom>
          <a:noFill/>
        </p:spPr>
        <p:txBody>
          <a:bodyPr wrap="square">
            <a:spAutoFit/>
          </a:bodyPr>
          <a:lstStyle/>
          <a:p>
            <a:pPr>
              <a:defRPr sz="1700" b="1">
                <a:solidFill>
                  <a:srgbClr val="3766AA"/>
                </a:solidFill>
              </a:defRPr>
            </a:pPr>
            <a:r>
              <a:t>TXT Files</a:t>
            </a:r>
          </a:p>
          <a:p>
            <a:pPr>
              <a:spcBef>
                <a:spcPts val="600"/>
              </a:spcBef>
              <a:defRPr sz="1350">
                <a:solidFill>
                  <a:srgbClr val="2B2F37"/>
                </a:solidFill>
              </a:defRPr>
            </a:pPr>
            <a:r>
              <a:t>lost_items.txt</a:t>
            </a:r>
            <a:br/>
            <a:r>
              <a:t>found_items.txt</a:t>
            </a:r>
          </a:p>
        </p:txBody>
      </p:sp>
      <p:sp>
        <p:nvSpPr>
          <p:cNvPr id="7" name="Rounded Rectangle 6"/>
          <p:cNvSpPr/>
          <p:nvPr/>
        </p:nvSpPr>
        <p:spPr>
          <a:xfrm>
            <a:off x="6766560" y="1325880"/>
            <a:ext cx="274320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03720" y="1435607"/>
            <a:ext cx="2468880" cy="960120"/>
          </a:xfrm>
          <a:prstGeom prst="rect">
            <a:avLst/>
          </a:prstGeom>
          <a:noFill/>
        </p:spPr>
        <p:txBody>
          <a:bodyPr wrap="square">
            <a:spAutoFit/>
          </a:bodyPr>
          <a:lstStyle/>
          <a:p>
            <a:pPr>
              <a:defRPr sz="1700" b="1">
                <a:solidFill>
                  <a:srgbClr val="3766AA"/>
                </a:solidFill>
              </a:defRPr>
            </a:pPr>
            <a:r>
              <a:t>Rebuild Data</a:t>
            </a:r>
          </a:p>
          <a:p>
            <a:pPr>
              <a:spcBef>
                <a:spcPts val="600"/>
              </a:spcBef>
              <a:defRPr sz="1350">
                <a:solidFill>
                  <a:srgbClr val="2B2F37"/>
                </a:solidFill>
              </a:defRPr>
            </a:pPr>
            <a:r>
              <a:t>Linked Lists + Hash Table</a:t>
            </a:r>
          </a:p>
        </p:txBody>
      </p:sp>
      <p:sp>
        <p:nvSpPr>
          <p:cNvPr id="9" name="Down Arrow 8"/>
          <p:cNvSpPr/>
          <p:nvPr/>
        </p:nvSpPr>
        <p:spPr>
          <a:xfrm>
            <a:off x="5623560" y="2606040"/>
            <a:ext cx="411480" cy="411480"/>
          </a:xfrm>
          <a:prstGeom prst="down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22960" y="3246120"/>
            <a:ext cx="10469880" cy="1920240"/>
          </a:xfrm>
          <a:prstGeom prst="roundRect">
            <a:avLst/>
          </a:prstGeom>
          <a:solidFill>
            <a:srgbClr val="1E232D"/>
          </a:solidFill>
          <a:ln>
            <a:solidFill>
              <a:srgbClr val="464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3337560"/>
            <a:ext cx="10177272" cy="1755648"/>
          </a:xfrm>
          <a:prstGeom prst="rect">
            <a:avLst/>
          </a:prstGeom>
          <a:noFill/>
        </p:spPr>
        <p:txBody>
          <a:bodyPr wrap="none">
            <a:spAutoFit/>
          </a:bodyPr>
          <a:lstStyle/>
          <a:p>
            <a:pPr>
              <a:defRPr sz="1100">
                <a:solidFill>
                  <a:srgbClr val="FFFFFF"/>
                </a:solidFill>
                <a:latin typeface="Consolas"/>
              </a:defRPr>
            </a:pPr>
            <a:r>
              <a:t>fprintf(file, "%d|%s|%s|%s|%s|%s|%d\n",</a:t>
            </a:r>
            <a:br/>
            <a:r>
              <a:t>        current-&gt;id, current-&gt;name,</a:t>
            </a:r>
            <a:br/>
            <a:r>
              <a:t>        current-&gt;category, current-&gt;color,</a:t>
            </a:r>
            <a:br/>
            <a:r>
              <a:t>        current-&gt;location, current-&gt;date,</a:t>
            </a:r>
            <a:br/>
            <a:r>
              <a:t>        current-&gt;status);</a:t>
            </a:r>
          </a:p>
        </p:txBody>
      </p:sp>
      <p:sp>
        <p:nvSpPr>
          <p:cNvPr id="12" name="TextBox 11"/>
          <p:cNvSpPr txBox="1"/>
          <p:nvPr/>
        </p:nvSpPr>
        <p:spPr>
          <a:xfrm>
            <a:off x="914400" y="5394960"/>
            <a:ext cx="10241280" cy="777240"/>
          </a:xfrm>
          <a:prstGeom prst="rect">
            <a:avLst/>
          </a:prstGeom>
          <a:noFill/>
        </p:spPr>
        <p:txBody>
          <a:bodyPr wrap="square">
            <a:spAutoFit/>
          </a:bodyPr>
          <a:lstStyle/>
          <a:p>
            <a:pPr>
              <a:spcAft>
                <a:spcPts val="1000"/>
              </a:spcAft>
              <a:defRPr sz="1300">
                <a:solidFill>
                  <a:srgbClr val="2B2F37"/>
                </a:solidFill>
              </a:defRPr>
            </a:pPr>
            <a:r>
              <a:t>fscanf() reconstructs Item nodes when loading.</a:t>
            </a:r>
          </a:p>
          <a:p>
            <a:pPr>
              <a:spcAft>
                <a:spcPts val="1000"/>
              </a:spcAft>
              <a:defRPr sz="1300">
                <a:solidFill>
                  <a:srgbClr val="2B2F37"/>
                </a:solidFill>
              </a:defRPr>
            </a:pPr>
            <a:r>
              <a:t>fprintf() writes records when saving.</a:t>
            </a:r>
          </a:p>
          <a:p>
            <a:pPr>
              <a:spcAft>
                <a:spcPts val="1000"/>
              </a:spcAft>
              <a:defRPr sz="1300">
                <a:solidFill>
                  <a:srgbClr val="2B2F37"/>
                </a:solidFill>
              </a:defRPr>
            </a:pPr>
            <a:r>
              <a:t>File handling provides persistence; it is not a DSA structure.</a:t>
            </a:r>
          </a:p>
        </p:txBody>
      </p:sp>
      <p:sp>
        <p:nvSpPr>
          <p:cNvPr id="13" name="TextBox 12"/>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934393" cy="507831"/>
          </a:xfrm>
          <a:prstGeom prst="rect">
            <a:avLst/>
          </a:prstGeom>
          <a:noFill/>
        </p:spPr>
        <p:txBody>
          <a:bodyPr wrap="none">
            <a:spAutoFit/>
          </a:bodyPr>
          <a:lstStyle/>
          <a:p>
            <a:pPr>
              <a:defRPr sz="2700" b="1">
                <a:solidFill>
                  <a:srgbClr val="1C3058"/>
                </a:solidFill>
              </a:defRPr>
            </a:pPr>
            <a:r>
              <a:rPr dirty="0"/>
              <a:t>1</a:t>
            </a:r>
            <a:r>
              <a:rPr lang="en-IN" dirty="0"/>
              <a:t>3</a:t>
            </a:r>
            <a:r>
              <a:rPr dirty="0"/>
              <a:t>. TXT File Format</a:t>
            </a:r>
          </a:p>
        </p:txBody>
      </p:sp>
      <p:sp>
        <p:nvSpPr>
          <p:cNvPr id="3" name="Rounded Rectangle 2"/>
          <p:cNvSpPr/>
          <p:nvPr/>
        </p:nvSpPr>
        <p:spPr>
          <a:xfrm>
            <a:off x="731520" y="1325880"/>
            <a:ext cx="10698480" cy="914400"/>
          </a:xfrm>
          <a:prstGeom prst="roundRect">
            <a:avLst/>
          </a:prstGeom>
          <a:solidFill>
            <a:srgbClr val="1E232D"/>
          </a:solidFill>
          <a:ln>
            <a:solidFill>
              <a:srgbClr val="464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77824" y="1417320"/>
            <a:ext cx="10405872" cy="749808"/>
          </a:xfrm>
          <a:prstGeom prst="rect">
            <a:avLst/>
          </a:prstGeom>
          <a:noFill/>
        </p:spPr>
        <p:txBody>
          <a:bodyPr wrap="none">
            <a:spAutoFit/>
          </a:bodyPr>
          <a:lstStyle/>
          <a:p>
            <a:pPr>
              <a:defRPr sz="1600">
                <a:solidFill>
                  <a:srgbClr val="FFFFFF"/>
                </a:solidFill>
                <a:latin typeface="Consolas"/>
              </a:defRPr>
            </a:pPr>
            <a:r>
              <a:t>1001|Wallet|Accessories|Black|Library|15/09/2026|0</a:t>
            </a:r>
          </a:p>
        </p:txBody>
      </p:sp>
      <p:sp>
        <p:nvSpPr>
          <p:cNvPr id="5" name="Rounded Rectangle 4"/>
          <p:cNvSpPr/>
          <p:nvPr/>
        </p:nvSpPr>
        <p:spPr>
          <a:xfrm>
            <a:off x="594360" y="2606040"/>
            <a:ext cx="1417320" cy="9601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715768"/>
            <a:ext cx="1143000" cy="777240"/>
          </a:xfrm>
          <a:prstGeom prst="rect">
            <a:avLst/>
          </a:prstGeom>
          <a:noFill/>
        </p:spPr>
        <p:txBody>
          <a:bodyPr wrap="square">
            <a:spAutoFit/>
          </a:bodyPr>
          <a:lstStyle/>
          <a:p>
            <a:pPr>
              <a:defRPr sz="1700" b="1">
                <a:solidFill>
                  <a:srgbClr val="3766AA"/>
                </a:solidFill>
              </a:defRPr>
            </a:pPr>
            <a:r>
              <a:t>ID</a:t>
            </a:r>
          </a:p>
          <a:p>
            <a:pPr>
              <a:spcBef>
                <a:spcPts val="600"/>
              </a:spcBef>
              <a:defRPr sz="1350">
                <a:solidFill>
                  <a:srgbClr val="2B2F37"/>
                </a:solidFill>
              </a:defRPr>
            </a:pPr>
            <a:r>
              <a:t>1</a:t>
            </a:r>
          </a:p>
        </p:txBody>
      </p:sp>
      <p:sp>
        <p:nvSpPr>
          <p:cNvPr id="7" name="Rounded Rectangle 6"/>
          <p:cNvSpPr/>
          <p:nvPr/>
        </p:nvSpPr>
        <p:spPr>
          <a:xfrm>
            <a:off x="2212848" y="2606040"/>
            <a:ext cx="1417320" cy="9601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50008" y="2715768"/>
            <a:ext cx="1143000" cy="777240"/>
          </a:xfrm>
          <a:prstGeom prst="rect">
            <a:avLst/>
          </a:prstGeom>
          <a:noFill/>
        </p:spPr>
        <p:txBody>
          <a:bodyPr wrap="square">
            <a:spAutoFit/>
          </a:bodyPr>
          <a:lstStyle/>
          <a:p>
            <a:pPr>
              <a:defRPr sz="1700" b="1">
                <a:solidFill>
                  <a:srgbClr val="3766AA"/>
                </a:solidFill>
              </a:defRPr>
            </a:pPr>
            <a:r>
              <a:t>Name</a:t>
            </a:r>
          </a:p>
          <a:p>
            <a:pPr>
              <a:spcBef>
                <a:spcPts val="600"/>
              </a:spcBef>
              <a:defRPr sz="1350">
                <a:solidFill>
                  <a:srgbClr val="2B2F37"/>
                </a:solidFill>
              </a:defRPr>
            </a:pPr>
            <a:r>
              <a:t>2</a:t>
            </a:r>
          </a:p>
        </p:txBody>
      </p:sp>
      <p:sp>
        <p:nvSpPr>
          <p:cNvPr id="9" name="Rounded Rectangle 8"/>
          <p:cNvSpPr/>
          <p:nvPr/>
        </p:nvSpPr>
        <p:spPr>
          <a:xfrm>
            <a:off x="3831336" y="2606040"/>
            <a:ext cx="1417320" cy="9601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68496" y="2715768"/>
            <a:ext cx="1143000" cy="777240"/>
          </a:xfrm>
          <a:prstGeom prst="rect">
            <a:avLst/>
          </a:prstGeom>
          <a:noFill/>
        </p:spPr>
        <p:txBody>
          <a:bodyPr wrap="square">
            <a:spAutoFit/>
          </a:bodyPr>
          <a:lstStyle/>
          <a:p>
            <a:pPr>
              <a:defRPr sz="1700" b="1">
                <a:solidFill>
                  <a:srgbClr val="3766AA"/>
                </a:solidFill>
              </a:defRPr>
            </a:pPr>
            <a:r>
              <a:t>Category</a:t>
            </a:r>
          </a:p>
          <a:p>
            <a:pPr>
              <a:spcBef>
                <a:spcPts val="600"/>
              </a:spcBef>
              <a:defRPr sz="1350">
                <a:solidFill>
                  <a:srgbClr val="2B2F37"/>
                </a:solidFill>
              </a:defRPr>
            </a:pPr>
            <a:r>
              <a:t>3</a:t>
            </a:r>
          </a:p>
        </p:txBody>
      </p:sp>
      <p:sp>
        <p:nvSpPr>
          <p:cNvPr id="11" name="Rounded Rectangle 10"/>
          <p:cNvSpPr/>
          <p:nvPr/>
        </p:nvSpPr>
        <p:spPr>
          <a:xfrm>
            <a:off x="5449824" y="2606040"/>
            <a:ext cx="1417320" cy="9601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86984" y="2715768"/>
            <a:ext cx="1143000" cy="777240"/>
          </a:xfrm>
          <a:prstGeom prst="rect">
            <a:avLst/>
          </a:prstGeom>
          <a:noFill/>
        </p:spPr>
        <p:txBody>
          <a:bodyPr wrap="square">
            <a:spAutoFit/>
          </a:bodyPr>
          <a:lstStyle/>
          <a:p>
            <a:pPr>
              <a:defRPr sz="1700" b="1">
                <a:solidFill>
                  <a:srgbClr val="3766AA"/>
                </a:solidFill>
              </a:defRPr>
            </a:pPr>
            <a:r>
              <a:t>Color</a:t>
            </a:r>
          </a:p>
          <a:p>
            <a:pPr>
              <a:spcBef>
                <a:spcPts val="600"/>
              </a:spcBef>
              <a:defRPr sz="1350">
                <a:solidFill>
                  <a:srgbClr val="2B2F37"/>
                </a:solidFill>
              </a:defRPr>
            </a:pPr>
            <a:r>
              <a:t>4</a:t>
            </a:r>
          </a:p>
        </p:txBody>
      </p:sp>
      <p:sp>
        <p:nvSpPr>
          <p:cNvPr id="13" name="Rounded Rectangle 12"/>
          <p:cNvSpPr/>
          <p:nvPr/>
        </p:nvSpPr>
        <p:spPr>
          <a:xfrm>
            <a:off x="7068312" y="2606040"/>
            <a:ext cx="1417320" cy="9601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05472" y="2715768"/>
            <a:ext cx="1143000" cy="777240"/>
          </a:xfrm>
          <a:prstGeom prst="rect">
            <a:avLst/>
          </a:prstGeom>
          <a:noFill/>
        </p:spPr>
        <p:txBody>
          <a:bodyPr wrap="square">
            <a:spAutoFit/>
          </a:bodyPr>
          <a:lstStyle/>
          <a:p>
            <a:pPr>
              <a:defRPr sz="1700" b="1">
                <a:solidFill>
                  <a:srgbClr val="3766AA"/>
                </a:solidFill>
              </a:defRPr>
            </a:pPr>
            <a:r>
              <a:t>Location</a:t>
            </a:r>
          </a:p>
          <a:p>
            <a:pPr>
              <a:spcBef>
                <a:spcPts val="600"/>
              </a:spcBef>
              <a:defRPr sz="1350">
                <a:solidFill>
                  <a:srgbClr val="2B2F37"/>
                </a:solidFill>
              </a:defRPr>
            </a:pPr>
            <a:r>
              <a:t>5</a:t>
            </a:r>
          </a:p>
        </p:txBody>
      </p:sp>
      <p:sp>
        <p:nvSpPr>
          <p:cNvPr id="15" name="Rounded Rectangle 14"/>
          <p:cNvSpPr/>
          <p:nvPr/>
        </p:nvSpPr>
        <p:spPr>
          <a:xfrm>
            <a:off x="8686800" y="2606040"/>
            <a:ext cx="1417320" cy="9601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60" y="2715768"/>
            <a:ext cx="1143000" cy="777240"/>
          </a:xfrm>
          <a:prstGeom prst="rect">
            <a:avLst/>
          </a:prstGeom>
          <a:noFill/>
        </p:spPr>
        <p:txBody>
          <a:bodyPr wrap="square">
            <a:spAutoFit/>
          </a:bodyPr>
          <a:lstStyle/>
          <a:p>
            <a:pPr>
              <a:defRPr sz="1700" b="1">
                <a:solidFill>
                  <a:srgbClr val="3766AA"/>
                </a:solidFill>
              </a:defRPr>
            </a:pPr>
            <a:r>
              <a:t>Date</a:t>
            </a:r>
          </a:p>
          <a:p>
            <a:pPr>
              <a:spcBef>
                <a:spcPts val="600"/>
              </a:spcBef>
              <a:defRPr sz="1350">
                <a:solidFill>
                  <a:srgbClr val="2B2F37"/>
                </a:solidFill>
              </a:defRPr>
            </a:pPr>
            <a:r>
              <a:t>6</a:t>
            </a:r>
          </a:p>
        </p:txBody>
      </p:sp>
      <p:sp>
        <p:nvSpPr>
          <p:cNvPr id="17" name="Rounded Rectangle 16"/>
          <p:cNvSpPr/>
          <p:nvPr/>
        </p:nvSpPr>
        <p:spPr>
          <a:xfrm>
            <a:off x="10305288" y="2606040"/>
            <a:ext cx="1417320" cy="9601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42448" y="2715768"/>
            <a:ext cx="1143000" cy="777240"/>
          </a:xfrm>
          <a:prstGeom prst="rect">
            <a:avLst/>
          </a:prstGeom>
          <a:noFill/>
        </p:spPr>
        <p:txBody>
          <a:bodyPr wrap="square">
            <a:spAutoFit/>
          </a:bodyPr>
          <a:lstStyle/>
          <a:p>
            <a:pPr>
              <a:defRPr sz="1700" b="1">
                <a:solidFill>
                  <a:srgbClr val="3766AA"/>
                </a:solidFill>
              </a:defRPr>
            </a:pPr>
            <a:r>
              <a:t>Status</a:t>
            </a:r>
          </a:p>
          <a:p>
            <a:pPr>
              <a:spcBef>
                <a:spcPts val="600"/>
              </a:spcBef>
              <a:defRPr sz="1350">
                <a:solidFill>
                  <a:srgbClr val="2B2F37"/>
                </a:solidFill>
              </a:defRPr>
            </a:pPr>
            <a:r>
              <a:t>7</a:t>
            </a:r>
          </a:p>
        </p:txBody>
      </p:sp>
      <p:sp>
        <p:nvSpPr>
          <p:cNvPr id="19" name="TextBox 18"/>
          <p:cNvSpPr txBox="1"/>
          <p:nvPr/>
        </p:nvSpPr>
        <p:spPr>
          <a:xfrm>
            <a:off x="914400" y="3977639"/>
            <a:ext cx="10241280" cy="1508760"/>
          </a:xfrm>
          <a:prstGeom prst="rect">
            <a:avLst/>
          </a:prstGeom>
          <a:noFill/>
        </p:spPr>
        <p:txBody>
          <a:bodyPr wrap="square">
            <a:spAutoFit/>
          </a:bodyPr>
          <a:lstStyle/>
          <a:p>
            <a:pPr>
              <a:spcAft>
                <a:spcPts val="1000"/>
              </a:spcAft>
              <a:defRPr sz="1500">
                <a:solidFill>
                  <a:srgbClr val="2B2F37"/>
                </a:solidFill>
              </a:defRPr>
            </a:pPr>
            <a:r>
              <a:t>Fields are separated by |.</a:t>
            </a:r>
          </a:p>
          <a:p>
            <a:pPr>
              <a:spcAft>
                <a:spcPts val="1000"/>
              </a:spcAft>
              <a:defRPr sz="1500">
                <a:solidFill>
                  <a:srgbClr val="2B2F37"/>
                </a:solidFill>
              </a:defRPr>
            </a:pPr>
            <a:r>
              <a:t>Status 0 = Active; Status 1 = Resolved.</a:t>
            </a:r>
          </a:p>
          <a:p>
            <a:pPr>
              <a:spcAft>
                <a:spcPts val="1000"/>
              </a:spcAft>
              <a:defRPr sz="1500">
                <a:solidFill>
                  <a:srgbClr val="2B2F37"/>
                </a:solidFill>
              </a:defRPr>
            </a:pPr>
            <a:r>
              <a:t>Lost and found records are stored in separate files.</a:t>
            </a:r>
          </a:p>
          <a:p>
            <a:pPr>
              <a:spcAft>
                <a:spcPts val="1000"/>
              </a:spcAft>
              <a:defRPr sz="1500">
                <a:solidFill>
                  <a:srgbClr val="2B2F37"/>
                </a:solidFill>
              </a:defRPr>
            </a:pPr>
            <a:r>
              <a:t>At startup, the lines are parsed and converted back into Item nodes.</a:t>
            </a:r>
          </a:p>
        </p:txBody>
      </p:sp>
      <p:sp>
        <p:nvSpPr>
          <p:cNvPr id="20" name="TextBox 19"/>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13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4156972" cy="507831"/>
          </a:xfrm>
          <a:prstGeom prst="rect">
            <a:avLst/>
          </a:prstGeom>
          <a:noFill/>
        </p:spPr>
        <p:txBody>
          <a:bodyPr wrap="none">
            <a:spAutoFit/>
          </a:bodyPr>
          <a:lstStyle/>
          <a:p>
            <a:pPr>
              <a:defRPr sz="2700" b="1">
                <a:solidFill>
                  <a:srgbClr val="1C3058"/>
                </a:solidFill>
              </a:defRPr>
            </a:pPr>
            <a:r>
              <a:rPr dirty="0"/>
              <a:t>1</a:t>
            </a:r>
            <a:r>
              <a:rPr lang="en-IN" dirty="0"/>
              <a:t>4</a:t>
            </a:r>
            <a:r>
              <a:rPr dirty="0"/>
              <a:t>. Complete Program Flow</a:t>
            </a:r>
          </a:p>
        </p:txBody>
      </p:sp>
      <p:sp>
        <p:nvSpPr>
          <p:cNvPr id="3" name="Rounded Rectangle 2"/>
          <p:cNvSpPr/>
          <p:nvPr/>
        </p:nvSpPr>
        <p:spPr>
          <a:xfrm>
            <a:off x="228600" y="1600200"/>
            <a:ext cx="123444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709928"/>
            <a:ext cx="960120" cy="960120"/>
          </a:xfrm>
          <a:prstGeom prst="rect">
            <a:avLst/>
          </a:prstGeom>
          <a:noFill/>
        </p:spPr>
        <p:txBody>
          <a:bodyPr wrap="square">
            <a:spAutoFit/>
          </a:bodyPr>
          <a:lstStyle/>
          <a:p>
            <a:pPr>
              <a:defRPr sz="1700" b="1">
                <a:solidFill>
                  <a:srgbClr val="3766AA"/>
                </a:solidFill>
              </a:defRPr>
            </a:pPr>
            <a:r>
              <a:t>START</a:t>
            </a:r>
          </a:p>
          <a:p>
            <a:pPr>
              <a:spcBef>
                <a:spcPts val="600"/>
              </a:spcBef>
              <a:defRPr sz="1350">
                <a:solidFill>
                  <a:srgbClr val="2B2F37"/>
                </a:solidFill>
              </a:defRPr>
            </a:pPr>
            <a:endParaRPr/>
          </a:p>
        </p:txBody>
      </p:sp>
      <p:sp>
        <p:nvSpPr>
          <p:cNvPr id="5" name="Right Arrow 4"/>
          <p:cNvSpPr/>
          <p:nvPr/>
        </p:nvSpPr>
        <p:spPr>
          <a:xfrm>
            <a:off x="1481328" y="1993392"/>
            <a:ext cx="201168" cy="201168"/>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709928" y="1600200"/>
            <a:ext cx="123444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47088" y="1709928"/>
            <a:ext cx="960120" cy="960120"/>
          </a:xfrm>
          <a:prstGeom prst="rect">
            <a:avLst/>
          </a:prstGeom>
          <a:noFill/>
        </p:spPr>
        <p:txBody>
          <a:bodyPr wrap="square">
            <a:spAutoFit/>
          </a:bodyPr>
          <a:lstStyle/>
          <a:p>
            <a:pPr>
              <a:defRPr sz="1700" b="1">
                <a:solidFill>
                  <a:srgbClr val="3766AA"/>
                </a:solidFill>
              </a:defRPr>
            </a:pPr>
            <a:r>
              <a:t>Initialize</a:t>
            </a:r>
            <a:br/>
            <a:r>
              <a:t>Hash Table</a:t>
            </a:r>
          </a:p>
          <a:p>
            <a:pPr>
              <a:spcBef>
                <a:spcPts val="600"/>
              </a:spcBef>
              <a:defRPr sz="1350">
                <a:solidFill>
                  <a:srgbClr val="2B2F37"/>
                </a:solidFill>
              </a:defRPr>
            </a:pPr>
            <a:endParaRPr/>
          </a:p>
        </p:txBody>
      </p:sp>
      <p:sp>
        <p:nvSpPr>
          <p:cNvPr id="8" name="Right Arrow 7"/>
          <p:cNvSpPr/>
          <p:nvPr/>
        </p:nvSpPr>
        <p:spPr>
          <a:xfrm>
            <a:off x="2962656" y="1993392"/>
            <a:ext cx="201168" cy="201168"/>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191256" y="1600200"/>
            <a:ext cx="123444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8416" y="1709928"/>
            <a:ext cx="960120" cy="960120"/>
          </a:xfrm>
          <a:prstGeom prst="rect">
            <a:avLst/>
          </a:prstGeom>
          <a:noFill/>
        </p:spPr>
        <p:txBody>
          <a:bodyPr wrap="square">
            <a:spAutoFit/>
          </a:bodyPr>
          <a:lstStyle/>
          <a:p>
            <a:pPr>
              <a:defRPr sz="1700" b="1">
                <a:solidFill>
                  <a:srgbClr val="3766AA"/>
                </a:solidFill>
              </a:defRPr>
            </a:pPr>
            <a:r>
              <a:t>Load TXT</a:t>
            </a:r>
            <a:br/>
            <a:r>
              <a:t>Files</a:t>
            </a:r>
          </a:p>
          <a:p>
            <a:pPr>
              <a:spcBef>
                <a:spcPts val="600"/>
              </a:spcBef>
              <a:defRPr sz="1350">
                <a:solidFill>
                  <a:srgbClr val="2B2F37"/>
                </a:solidFill>
              </a:defRPr>
            </a:pPr>
            <a:endParaRPr/>
          </a:p>
        </p:txBody>
      </p:sp>
      <p:sp>
        <p:nvSpPr>
          <p:cNvPr id="11" name="Right Arrow 10"/>
          <p:cNvSpPr/>
          <p:nvPr/>
        </p:nvSpPr>
        <p:spPr>
          <a:xfrm>
            <a:off x="4443984" y="1993392"/>
            <a:ext cx="201168" cy="201168"/>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672584" y="1600200"/>
            <a:ext cx="123444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09744" y="1709928"/>
            <a:ext cx="960120" cy="960120"/>
          </a:xfrm>
          <a:prstGeom prst="rect">
            <a:avLst/>
          </a:prstGeom>
          <a:noFill/>
        </p:spPr>
        <p:txBody>
          <a:bodyPr wrap="square">
            <a:spAutoFit/>
          </a:bodyPr>
          <a:lstStyle/>
          <a:p>
            <a:pPr>
              <a:defRPr sz="1700" b="1">
                <a:solidFill>
                  <a:srgbClr val="3766AA"/>
                </a:solidFill>
              </a:defRPr>
            </a:pPr>
            <a:r>
              <a:t>Build Lists</a:t>
            </a:r>
            <a:br/>
            <a:r>
              <a:t>+ Hash</a:t>
            </a:r>
          </a:p>
          <a:p>
            <a:pPr>
              <a:spcBef>
                <a:spcPts val="600"/>
              </a:spcBef>
              <a:defRPr sz="1350">
                <a:solidFill>
                  <a:srgbClr val="2B2F37"/>
                </a:solidFill>
              </a:defRPr>
            </a:pPr>
            <a:endParaRPr/>
          </a:p>
        </p:txBody>
      </p:sp>
      <p:sp>
        <p:nvSpPr>
          <p:cNvPr id="14" name="Right Arrow 13"/>
          <p:cNvSpPr/>
          <p:nvPr/>
        </p:nvSpPr>
        <p:spPr>
          <a:xfrm>
            <a:off x="5925312" y="1993392"/>
            <a:ext cx="201168" cy="201168"/>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53912" y="1600200"/>
            <a:ext cx="123444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1072" y="1709928"/>
            <a:ext cx="960120" cy="960120"/>
          </a:xfrm>
          <a:prstGeom prst="rect">
            <a:avLst/>
          </a:prstGeom>
          <a:noFill/>
        </p:spPr>
        <p:txBody>
          <a:bodyPr wrap="square">
            <a:spAutoFit/>
          </a:bodyPr>
          <a:lstStyle/>
          <a:p>
            <a:pPr>
              <a:defRPr sz="1700" b="1">
                <a:solidFill>
                  <a:srgbClr val="3766AA"/>
                </a:solidFill>
              </a:defRPr>
            </a:pPr>
            <a:r>
              <a:t>Display</a:t>
            </a:r>
            <a:br/>
            <a:r>
              <a:t>Menu</a:t>
            </a:r>
          </a:p>
          <a:p>
            <a:pPr>
              <a:spcBef>
                <a:spcPts val="600"/>
              </a:spcBef>
              <a:defRPr sz="1350">
                <a:solidFill>
                  <a:srgbClr val="2B2F37"/>
                </a:solidFill>
              </a:defRPr>
            </a:pPr>
            <a:endParaRPr/>
          </a:p>
        </p:txBody>
      </p:sp>
      <p:sp>
        <p:nvSpPr>
          <p:cNvPr id="17" name="Right Arrow 16"/>
          <p:cNvSpPr/>
          <p:nvPr/>
        </p:nvSpPr>
        <p:spPr>
          <a:xfrm>
            <a:off x="7406640" y="1993392"/>
            <a:ext cx="201168" cy="201168"/>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635240" y="1600200"/>
            <a:ext cx="123444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1709928"/>
            <a:ext cx="960120" cy="960120"/>
          </a:xfrm>
          <a:prstGeom prst="rect">
            <a:avLst/>
          </a:prstGeom>
          <a:noFill/>
        </p:spPr>
        <p:txBody>
          <a:bodyPr wrap="square">
            <a:spAutoFit/>
          </a:bodyPr>
          <a:lstStyle/>
          <a:p>
            <a:pPr>
              <a:defRPr sz="1700" b="1">
                <a:solidFill>
                  <a:srgbClr val="3766AA"/>
                </a:solidFill>
              </a:defRPr>
            </a:pPr>
            <a:r>
              <a:t>User</a:t>
            </a:r>
            <a:br/>
            <a:r>
              <a:t>Choice</a:t>
            </a:r>
          </a:p>
          <a:p>
            <a:pPr>
              <a:spcBef>
                <a:spcPts val="600"/>
              </a:spcBef>
              <a:defRPr sz="1350">
                <a:solidFill>
                  <a:srgbClr val="2B2F37"/>
                </a:solidFill>
              </a:defRPr>
            </a:pPr>
            <a:endParaRPr/>
          </a:p>
        </p:txBody>
      </p:sp>
      <p:sp>
        <p:nvSpPr>
          <p:cNvPr id="20" name="Right Arrow 19"/>
          <p:cNvSpPr/>
          <p:nvPr/>
        </p:nvSpPr>
        <p:spPr>
          <a:xfrm>
            <a:off x="8887968" y="1993392"/>
            <a:ext cx="201168" cy="201168"/>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116568" y="1600200"/>
            <a:ext cx="1234440"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53728" y="1709928"/>
            <a:ext cx="1088136" cy="900246"/>
          </a:xfrm>
          <a:prstGeom prst="rect">
            <a:avLst/>
          </a:prstGeom>
          <a:noFill/>
        </p:spPr>
        <p:txBody>
          <a:bodyPr wrap="square">
            <a:spAutoFit/>
          </a:bodyPr>
          <a:lstStyle/>
          <a:p>
            <a:pPr>
              <a:defRPr sz="1700" b="1">
                <a:solidFill>
                  <a:srgbClr val="3766AA"/>
                </a:solidFill>
              </a:defRPr>
            </a:pPr>
            <a:r>
              <a:rPr dirty="0"/>
              <a:t>Call</a:t>
            </a:r>
            <a:br>
              <a:rPr dirty="0"/>
            </a:br>
            <a:r>
              <a:rPr dirty="0"/>
              <a:t>Function</a:t>
            </a:r>
          </a:p>
          <a:p>
            <a:pPr>
              <a:spcBef>
                <a:spcPts val="600"/>
              </a:spcBef>
              <a:defRPr sz="1350">
                <a:solidFill>
                  <a:srgbClr val="2B2F37"/>
                </a:solidFill>
              </a:defRPr>
            </a:pPr>
            <a:endParaRPr dirty="0"/>
          </a:p>
        </p:txBody>
      </p:sp>
      <p:sp>
        <p:nvSpPr>
          <p:cNvPr id="23" name="Right Arrow 22"/>
          <p:cNvSpPr/>
          <p:nvPr/>
        </p:nvSpPr>
        <p:spPr>
          <a:xfrm>
            <a:off x="10369296" y="1993392"/>
            <a:ext cx="201168" cy="201168"/>
          </a:xfrm>
          <a:prstGeom prst="rightArrow">
            <a:avLst/>
          </a:prstGeom>
          <a:solidFill>
            <a:srgbClr val="376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0597896" y="1600200"/>
            <a:ext cx="1365504" cy="114300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35056" y="1709928"/>
            <a:ext cx="1255776" cy="1161857"/>
          </a:xfrm>
          <a:prstGeom prst="rect">
            <a:avLst/>
          </a:prstGeom>
          <a:noFill/>
        </p:spPr>
        <p:txBody>
          <a:bodyPr wrap="square">
            <a:spAutoFit/>
          </a:bodyPr>
          <a:lstStyle/>
          <a:p>
            <a:pPr>
              <a:defRPr sz="1700" b="1">
                <a:solidFill>
                  <a:srgbClr val="3766AA"/>
                </a:solidFill>
              </a:defRPr>
            </a:pPr>
            <a:r>
              <a:rPr dirty="0"/>
              <a:t>Modify → Save</a:t>
            </a:r>
            <a:br>
              <a:rPr dirty="0"/>
            </a:br>
            <a:r>
              <a:rPr dirty="0"/>
              <a:t>→ Continue</a:t>
            </a:r>
          </a:p>
          <a:p>
            <a:pPr>
              <a:spcBef>
                <a:spcPts val="600"/>
              </a:spcBef>
              <a:defRPr sz="1350">
                <a:solidFill>
                  <a:srgbClr val="2B2F37"/>
                </a:solidFill>
              </a:defRPr>
            </a:pPr>
            <a:endParaRPr dirty="0"/>
          </a:p>
        </p:txBody>
      </p:sp>
      <p:sp>
        <p:nvSpPr>
          <p:cNvPr id="26" name="TextBox 25"/>
          <p:cNvSpPr txBox="1"/>
          <p:nvPr/>
        </p:nvSpPr>
        <p:spPr>
          <a:xfrm>
            <a:off x="914400" y="3703320"/>
            <a:ext cx="10241280" cy="1554480"/>
          </a:xfrm>
          <a:prstGeom prst="rect">
            <a:avLst/>
          </a:prstGeom>
          <a:noFill/>
        </p:spPr>
        <p:txBody>
          <a:bodyPr wrap="square">
            <a:spAutoFit/>
          </a:bodyPr>
          <a:lstStyle/>
          <a:p>
            <a:pPr>
              <a:spcAft>
                <a:spcPts val="1000"/>
              </a:spcAft>
              <a:defRPr sz="1600">
                <a:solidFill>
                  <a:srgbClr val="2B2F37"/>
                </a:solidFill>
              </a:defRPr>
            </a:pPr>
            <a:r>
              <a:t>The program is menu-driven.</a:t>
            </a:r>
          </a:p>
          <a:p>
            <a:pPr>
              <a:spcAft>
                <a:spcPts val="1000"/>
              </a:spcAft>
              <a:defRPr sz="1600">
                <a:solidFill>
                  <a:srgbClr val="2B2F37"/>
                </a:solidFill>
              </a:defRPr>
            </a:pPr>
            <a:r>
              <a:t>Every menu option calls a specific function.</a:t>
            </a:r>
          </a:p>
          <a:p>
            <a:pPr>
              <a:spcAft>
                <a:spcPts val="1000"/>
              </a:spcAft>
              <a:defRPr sz="1600">
                <a:solidFill>
                  <a:srgbClr val="2B2F37"/>
                </a:solidFill>
              </a:defRPr>
            </a:pPr>
            <a:r>
              <a:t>Functions operate on the shared linked-list and hash-table structures.</a:t>
            </a:r>
          </a:p>
          <a:p>
            <a:pPr>
              <a:spcAft>
                <a:spcPts val="1000"/>
              </a:spcAft>
              <a:defRPr sz="1600">
                <a:solidFill>
                  <a:srgbClr val="2B2F37"/>
                </a:solidFill>
              </a:defRPr>
            </a:pPr>
            <a:r>
              <a:t>Changes are saved so records survive program exit.</a:t>
            </a:r>
          </a:p>
        </p:txBody>
      </p:sp>
      <p:sp>
        <p:nvSpPr>
          <p:cNvPr id="27" name="TextBox 26"/>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14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919389" cy="507831"/>
          </a:xfrm>
          <a:prstGeom prst="rect">
            <a:avLst/>
          </a:prstGeom>
          <a:noFill/>
        </p:spPr>
        <p:txBody>
          <a:bodyPr wrap="none">
            <a:spAutoFit/>
          </a:bodyPr>
          <a:lstStyle/>
          <a:p>
            <a:pPr>
              <a:defRPr sz="2700" b="1">
                <a:solidFill>
                  <a:srgbClr val="1C3058"/>
                </a:solidFill>
              </a:defRPr>
            </a:pPr>
            <a:r>
              <a:rPr dirty="0"/>
              <a:t>1</a:t>
            </a:r>
            <a:r>
              <a:rPr lang="en-IN" dirty="0"/>
              <a:t>5</a:t>
            </a:r>
            <a:r>
              <a:rPr dirty="0"/>
              <a:t>. Coding Division</a:t>
            </a:r>
          </a:p>
        </p:txBody>
      </p:sp>
      <p:sp>
        <p:nvSpPr>
          <p:cNvPr id="3" name="Rounded Rectangle 2"/>
          <p:cNvSpPr/>
          <p:nvPr/>
        </p:nvSpPr>
        <p:spPr>
          <a:xfrm>
            <a:off x="548640" y="845503"/>
            <a:ext cx="3474720" cy="5237083"/>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891540" y="1063585"/>
            <a:ext cx="3200400" cy="4031873"/>
          </a:xfrm>
          <a:prstGeom prst="rect">
            <a:avLst/>
          </a:prstGeom>
          <a:noFill/>
        </p:spPr>
        <p:txBody>
          <a:bodyPr wrap="square">
            <a:spAutoFit/>
          </a:bodyPr>
          <a:lstStyle/>
          <a:p>
            <a:pPr>
              <a:defRPr sz="1700" b="1">
                <a:solidFill>
                  <a:srgbClr val="3766AA"/>
                </a:solidFill>
              </a:defRPr>
            </a:pPr>
            <a:r>
              <a:rPr lang="en-IN" dirty="0"/>
              <a:t>Rehanshi</a:t>
            </a:r>
            <a:endParaRPr dirty="0"/>
          </a:p>
          <a:p>
            <a:pPr>
              <a:spcBef>
                <a:spcPts val="600"/>
              </a:spcBef>
              <a:defRPr sz="1350">
                <a:solidFill>
                  <a:srgbClr val="2B2F37"/>
                </a:solidFill>
              </a:defRPr>
            </a:pPr>
            <a:r>
              <a:rPr dirty="0"/>
              <a:t>Data Management</a:t>
            </a:r>
            <a:br>
              <a:rPr dirty="0"/>
            </a:br>
            <a:br>
              <a:rPr dirty="0"/>
            </a:br>
            <a:r>
              <a:rPr dirty="0"/>
              <a:t>Item struct</a:t>
            </a:r>
            <a:br>
              <a:rPr dirty="0"/>
            </a:br>
            <a:r>
              <a:rPr dirty="0"/>
              <a:t>Linked Lists</a:t>
            </a:r>
            <a:br>
              <a:rPr dirty="0"/>
            </a:br>
            <a:r>
              <a:rPr dirty="0"/>
              <a:t>Create / Insert / Display / Resolve</a:t>
            </a:r>
            <a:endParaRPr lang="en-IN" dirty="0"/>
          </a:p>
          <a:p>
            <a:pPr>
              <a:spcBef>
                <a:spcPts val="600"/>
              </a:spcBef>
              <a:defRPr sz="1350">
                <a:solidFill>
                  <a:srgbClr val="2B2F37"/>
                </a:solidFill>
              </a:defRPr>
            </a:pPr>
            <a:endParaRPr lang="en-IN" dirty="0"/>
          </a:p>
          <a:p>
            <a:pPr>
              <a:spcBef>
                <a:spcPts val="600"/>
              </a:spcBef>
              <a:defRPr sz="1350">
                <a:solidFill>
                  <a:srgbClr val="2B2F37"/>
                </a:solidFill>
              </a:defRPr>
            </a:pPr>
            <a:r>
              <a:rPr lang="en-IN" dirty="0"/>
              <a:t>1. </a:t>
            </a:r>
            <a:r>
              <a:rPr lang="en-IN" dirty="0" err="1"/>
              <a:t>createItem</a:t>
            </a:r>
            <a:r>
              <a:rPr lang="en-IN" dirty="0"/>
              <a:t>()</a:t>
            </a:r>
          </a:p>
          <a:p>
            <a:pPr>
              <a:spcBef>
                <a:spcPts val="600"/>
              </a:spcBef>
              <a:defRPr sz="1350">
                <a:solidFill>
                  <a:srgbClr val="2B2F37"/>
                </a:solidFill>
              </a:defRPr>
            </a:pPr>
            <a:r>
              <a:rPr lang="en-IN" dirty="0"/>
              <a:t>2. </a:t>
            </a:r>
            <a:r>
              <a:rPr lang="en-IN" dirty="0" err="1"/>
              <a:t>insertLostItem</a:t>
            </a:r>
            <a:r>
              <a:rPr lang="en-IN" dirty="0"/>
              <a:t>()</a:t>
            </a:r>
          </a:p>
          <a:p>
            <a:pPr>
              <a:spcBef>
                <a:spcPts val="600"/>
              </a:spcBef>
              <a:defRPr sz="1350">
                <a:solidFill>
                  <a:srgbClr val="2B2F37"/>
                </a:solidFill>
              </a:defRPr>
            </a:pPr>
            <a:r>
              <a:rPr lang="en-IN" dirty="0"/>
              <a:t>3. </a:t>
            </a:r>
            <a:r>
              <a:rPr lang="en-IN" dirty="0" err="1"/>
              <a:t>insertFoundItem</a:t>
            </a:r>
            <a:r>
              <a:rPr lang="en-IN" dirty="0"/>
              <a:t>()</a:t>
            </a:r>
          </a:p>
          <a:p>
            <a:pPr>
              <a:spcBef>
                <a:spcPts val="600"/>
              </a:spcBef>
              <a:defRPr sz="1350">
                <a:solidFill>
                  <a:srgbClr val="2B2F37"/>
                </a:solidFill>
              </a:defRPr>
            </a:pPr>
            <a:r>
              <a:rPr lang="en-IN" dirty="0"/>
              <a:t>4. </a:t>
            </a:r>
            <a:r>
              <a:rPr lang="en-IN" dirty="0" err="1"/>
              <a:t>displayItem</a:t>
            </a:r>
            <a:r>
              <a:rPr lang="en-IN" dirty="0"/>
              <a:t>()</a:t>
            </a:r>
          </a:p>
          <a:p>
            <a:pPr>
              <a:spcBef>
                <a:spcPts val="600"/>
              </a:spcBef>
              <a:defRPr sz="1350">
                <a:solidFill>
                  <a:srgbClr val="2B2F37"/>
                </a:solidFill>
              </a:defRPr>
            </a:pPr>
            <a:r>
              <a:rPr lang="en-IN" dirty="0"/>
              <a:t>5. </a:t>
            </a:r>
            <a:r>
              <a:rPr lang="en-IN" dirty="0" err="1"/>
              <a:t>displayLostItems</a:t>
            </a:r>
            <a:r>
              <a:rPr lang="en-IN" dirty="0"/>
              <a:t>()</a:t>
            </a:r>
          </a:p>
          <a:p>
            <a:pPr>
              <a:spcBef>
                <a:spcPts val="600"/>
              </a:spcBef>
              <a:defRPr sz="1350">
                <a:solidFill>
                  <a:srgbClr val="2B2F37"/>
                </a:solidFill>
              </a:defRPr>
            </a:pPr>
            <a:r>
              <a:rPr lang="en-IN" dirty="0"/>
              <a:t>6. </a:t>
            </a:r>
            <a:r>
              <a:rPr lang="en-IN" dirty="0" err="1"/>
              <a:t>displayFoundItems</a:t>
            </a:r>
            <a:r>
              <a:rPr lang="en-IN" dirty="0"/>
              <a:t>()</a:t>
            </a:r>
          </a:p>
          <a:p>
            <a:pPr>
              <a:spcBef>
                <a:spcPts val="600"/>
              </a:spcBef>
              <a:defRPr sz="1350">
                <a:solidFill>
                  <a:srgbClr val="2B2F37"/>
                </a:solidFill>
              </a:defRPr>
            </a:pPr>
            <a:r>
              <a:rPr lang="en-IN" dirty="0"/>
              <a:t>7. </a:t>
            </a:r>
            <a:r>
              <a:rPr lang="en-IN" dirty="0" err="1"/>
              <a:t>reportLostItem</a:t>
            </a:r>
            <a:r>
              <a:rPr lang="en-IN" dirty="0"/>
              <a:t>()</a:t>
            </a:r>
          </a:p>
          <a:p>
            <a:pPr>
              <a:spcBef>
                <a:spcPts val="600"/>
              </a:spcBef>
              <a:defRPr sz="1350">
                <a:solidFill>
                  <a:srgbClr val="2B2F37"/>
                </a:solidFill>
              </a:defRPr>
            </a:pPr>
            <a:r>
              <a:rPr lang="en-IN" dirty="0"/>
              <a:t>8. </a:t>
            </a:r>
            <a:r>
              <a:rPr lang="en-IN" dirty="0" err="1"/>
              <a:t>reportFoundItem</a:t>
            </a:r>
            <a:r>
              <a:rPr lang="en-IN" dirty="0"/>
              <a:t>()</a:t>
            </a:r>
            <a:endParaRPr dirty="0"/>
          </a:p>
        </p:txBody>
      </p:sp>
      <p:sp>
        <p:nvSpPr>
          <p:cNvPr id="5" name="Rounded Rectangle 4"/>
          <p:cNvSpPr/>
          <p:nvPr/>
        </p:nvSpPr>
        <p:spPr>
          <a:xfrm>
            <a:off x="4343400" y="845504"/>
            <a:ext cx="3474720" cy="5303520"/>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686300" y="988207"/>
            <a:ext cx="3200400" cy="4885953"/>
          </a:xfrm>
          <a:prstGeom prst="rect">
            <a:avLst/>
          </a:prstGeom>
          <a:noFill/>
        </p:spPr>
        <p:txBody>
          <a:bodyPr wrap="square">
            <a:spAutoFit/>
          </a:bodyPr>
          <a:lstStyle/>
          <a:p>
            <a:pPr>
              <a:defRPr sz="1700" b="1">
                <a:solidFill>
                  <a:srgbClr val="3766AA"/>
                </a:solidFill>
              </a:defRPr>
            </a:pPr>
            <a:r>
              <a:rPr lang="en-IN" dirty="0"/>
              <a:t>Anandi</a:t>
            </a:r>
            <a:endParaRPr dirty="0"/>
          </a:p>
          <a:p>
            <a:pPr>
              <a:spcBef>
                <a:spcPts val="600"/>
              </a:spcBef>
              <a:defRPr sz="1350">
                <a:solidFill>
                  <a:srgbClr val="2B2F37"/>
                </a:solidFill>
              </a:defRPr>
            </a:pPr>
            <a:r>
              <a:rPr dirty="0"/>
              <a:t>Search &amp; Hashing</a:t>
            </a:r>
            <a:br>
              <a:rPr dirty="0"/>
            </a:br>
            <a:br>
              <a:rPr dirty="0"/>
            </a:br>
            <a:r>
              <a:rPr dirty="0"/>
              <a:t>Hash Table</a:t>
            </a:r>
            <a:br>
              <a:rPr dirty="0"/>
            </a:br>
            <a:r>
              <a:rPr dirty="0"/>
              <a:t>ID Search</a:t>
            </a:r>
            <a:br>
              <a:rPr dirty="0"/>
            </a:br>
            <a:r>
              <a:rPr dirty="0"/>
              <a:t>Name / Category / Location Search</a:t>
            </a:r>
            <a:endParaRPr lang="en-IN" dirty="0"/>
          </a:p>
          <a:p>
            <a:pPr>
              <a:spcBef>
                <a:spcPts val="600"/>
              </a:spcBef>
              <a:defRPr sz="1350">
                <a:solidFill>
                  <a:srgbClr val="2B2F37"/>
                </a:solidFill>
              </a:defRPr>
            </a:pPr>
            <a:endParaRPr lang="en-IN" dirty="0"/>
          </a:p>
          <a:p>
            <a:pPr>
              <a:spcBef>
                <a:spcPts val="600"/>
              </a:spcBef>
              <a:defRPr sz="1350">
                <a:solidFill>
                  <a:srgbClr val="2B2F37"/>
                </a:solidFill>
              </a:defRPr>
            </a:pPr>
            <a:r>
              <a:rPr lang="en-IN" dirty="0"/>
              <a:t>1. </a:t>
            </a:r>
            <a:r>
              <a:rPr lang="en-IN" dirty="0" err="1"/>
              <a:t>removeNewline</a:t>
            </a:r>
            <a:r>
              <a:rPr lang="en-IN" dirty="0"/>
              <a:t>()</a:t>
            </a:r>
          </a:p>
          <a:p>
            <a:pPr>
              <a:spcBef>
                <a:spcPts val="600"/>
              </a:spcBef>
              <a:defRPr sz="1350">
                <a:solidFill>
                  <a:srgbClr val="2B2F37"/>
                </a:solidFill>
              </a:defRPr>
            </a:pPr>
            <a:r>
              <a:rPr lang="en-IN" dirty="0"/>
              <a:t>2. </a:t>
            </a:r>
            <a:r>
              <a:rPr lang="en-IN" dirty="0" err="1"/>
              <a:t>toLowerCase</a:t>
            </a:r>
            <a:r>
              <a:rPr lang="en-IN" dirty="0"/>
              <a:t>()</a:t>
            </a:r>
          </a:p>
          <a:p>
            <a:pPr>
              <a:spcBef>
                <a:spcPts val="600"/>
              </a:spcBef>
              <a:defRPr sz="1350">
                <a:solidFill>
                  <a:srgbClr val="2B2F37"/>
                </a:solidFill>
              </a:defRPr>
            </a:pPr>
            <a:r>
              <a:rPr lang="en-IN" dirty="0"/>
              <a:t>3. </a:t>
            </a:r>
            <a:r>
              <a:rPr lang="en-IN" dirty="0" err="1"/>
              <a:t>stringEqualIgnoreCase</a:t>
            </a:r>
            <a:r>
              <a:rPr lang="en-IN" dirty="0"/>
              <a:t>()</a:t>
            </a:r>
          </a:p>
          <a:p>
            <a:pPr>
              <a:spcBef>
                <a:spcPts val="600"/>
              </a:spcBef>
              <a:defRPr sz="1350">
                <a:solidFill>
                  <a:srgbClr val="2B2F37"/>
                </a:solidFill>
              </a:defRPr>
            </a:pPr>
            <a:r>
              <a:rPr lang="en-IN" dirty="0"/>
              <a:t>4. </a:t>
            </a:r>
            <a:r>
              <a:rPr lang="en-IN" dirty="0" err="1"/>
              <a:t>readInteger</a:t>
            </a:r>
            <a:r>
              <a:rPr lang="en-IN" dirty="0"/>
              <a:t>()</a:t>
            </a:r>
          </a:p>
          <a:p>
            <a:pPr>
              <a:spcBef>
                <a:spcPts val="600"/>
              </a:spcBef>
              <a:defRPr sz="1350">
                <a:solidFill>
                  <a:srgbClr val="2B2F37"/>
                </a:solidFill>
              </a:defRPr>
            </a:pPr>
            <a:r>
              <a:rPr lang="en-IN" dirty="0"/>
              <a:t>5. </a:t>
            </a:r>
            <a:r>
              <a:rPr lang="en-IN" dirty="0" err="1"/>
              <a:t>hashFunction</a:t>
            </a:r>
            <a:r>
              <a:rPr lang="en-IN" dirty="0"/>
              <a:t>()</a:t>
            </a:r>
          </a:p>
          <a:p>
            <a:pPr>
              <a:spcBef>
                <a:spcPts val="600"/>
              </a:spcBef>
              <a:defRPr sz="1350">
                <a:solidFill>
                  <a:srgbClr val="2B2F37"/>
                </a:solidFill>
              </a:defRPr>
            </a:pPr>
            <a:r>
              <a:rPr lang="en-IN" dirty="0"/>
              <a:t>6. </a:t>
            </a:r>
            <a:r>
              <a:rPr lang="en-IN" dirty="0" err="1"/>
              <a:t>initializeHashTable</a:t>
            </a:r>
            <a:r>
              <a:rPr lang="en-IN" dirty="0"/>
              <a:t>()</a:t>
            </a:r>
          </a:p>
          <a:p>
            <a:pPr>
              <a:spcBef>
                <a:spcPts val="600"/>
              </a:spcBef>
              <a:defRPr sz="1350">
                <a:solidFill>
                  <a:srgbClr val="2B2F37"/>
                </a:solidFill>
              </a:defRPr>
            </a:pPr>
            <a:r>
              <a:rPr lang="en-IN" dirty="0"/>
              <a:t>7. </a:t>
            </a:r>
            <a:r>
              <a:rPr lang="en-IN" dirty="0" err="1"/>
              <a:t>insertHash</a:t>
            </a:r>
            <a:r>
              <a:rPr lang="en-IN" dirty="0"/>
              <a:t>()</a:t>
            </a:r>
          </a:p>
          <a:p>
            <a:pPr>
              <a:spcBef>
                <a:spcPts val="600"/>
              </a:spcBef>
              <a:defRPr sz="1350">
                <a:solidFill>
                  <a:srgbClr val="2B2F37"/>
                </a:solidFill>
              </a:defRPr>
            </a:pPr>
            <a:r>
              <a:rPr lang="en-IN" dirty="0"/>
              <a:t>8. </a:t>
            </a:r>
            <a:r>
              <a:rPr lang="en-IN" dirty="0" err="1"/>
              <a:t>hashSearch</a:t>
            </a:r>
            <a:r>
              <a:rPr lang="en-IN" dirty="0"/>
              <a:t>()</a:t>
            </a:r>
          </a:p>
          <a:p>
            <a:pPr>
              <a:spcBef>
                <a:spcPts val="600"/>
              </a:spcBef>
              <a:defRPr sz="1350">
                <a:solidFill>
                  <a:srgbClr val="2B2F37"/>
                </a:solidFill>
              </a:defRPr>
            </a:pPr>
            <a:r>
              <a:rPr lang="en-IN" dirty="0"/>
              <a:t>9. </a:t>
            </a:r>
            <a:r>
              <a:rPr lang="en-IN" dirty="0" err="1"/>
              <a:t>searchByName</a:t>
            </a:r>
            <a:r>
              <a:rPr lang="en-IN" dirty="0"/>
              <a:t>()</a:t>
            </a:r>
          </a:p>
          <a:p>
            <a:pPr>
              <a:spcBef>
                <a:spcPts val="600"/>
              </a:spcBef>
              <a:defRPr sz="1350">
                <a:solidFill>
                  <a:srgbClr val="2B2F37"/>
                </a:solidFill>
              </a:defRPr>
            </a:pPr>
            <a:r>
              <a:rPr lang="en-IN" dirty="0"/>
              <a:t>10. </a:t>
            </a:r>
            <a:r>
              <a:rPr lang="en-IN" dirty="0" err="1"/>
              <a:t>searchByCategory</a:t>
            </a:r>
            <a:r>
              <a:rPr lang="en-IN" dirty="0"/>
              <a:t>()</a:t>
            </a:r>
          </a:p>
          <a:p>
            <a:pPr>
              <a:spcBef>
                <a:spcPts val="600"/>
              </a:spcBef>
              <a:defRPr sz="1350">
                <a:solidFill>
                  <a:srgbClr val="2B2F37"/>
                </a:solidFill>
              </a:defRPr>
            </a:pPr>
            <a:r>
              <a:rPr lang="en-IN" dirty="0"/>
              <a:t>11. </a:t>
            </a:r>
            <a:r>
              <a:rPr lang="en-IN" dirty="0" err="1"/>
              <a:t>searchByLocation</a:t>
            </a:r>
            <a:r>
              <a:rPr lang="en-IN" dirty="0"/>
              <a:t>()</a:t>
            </a:r>
          </a:p>
        </p:txBody>
      </p:sp>
      <p:sp>
        <p:nvSpPr>
          <p:cNvPr id="7" name="Rounded Rectangle 6"/>
          <p:cNvSpPr/>
          <p:nvPr/>
        </p:nvSpPr>
        <p:spPr>
          <a:xfrm>
            <a:off x="8138160" y="845503"/>
            <a:ext cx="3474720" cy="5303521"/>
          </a:xfrm>
          <a:prstGeom prst="roundRect">
            <a:avLst/>
          </a:prstGeom>
          <a:solidFill>
            <a:srgbClr val="EBF1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75320" y="988207"/>
            <a:ext cx="3200400" cy="5170646"/>
          </a:xfrm>
          <a:prstGeom prst="rect">
            <a:avLst/>
          </a:prstGeom>
          <a:noFill/>
        </p:spPr>
        <p:txBody>
          <a:bodyPr wrap="square">
            <a:spAutoFit/>
          </a:bodyPr>
          <a:lstStyle/>
          <a:p>
            <a:pPr>
              <a:defRPr sz="1700" b="1">
                <a:solidFill>
                  <a:srgbClr val="3766AA"/>
                </a:solidFill>
              </a:defRPr>
            </a:pPr>
            <a:r>
              <a:rPr lang="en-IN" dirty="0"/>
              <a:t>Eka </a:t>
            </a:r>
            <a:endParaRPr dirty="0"/>
          </a:p>
          <a:p>
            <a:pPr>
              <a:spcBef>
                <a:spcPts val="600"/>
              </a:spcBef>
              <a:defRPr sz="1350">
                <a:solidFill>
                  <a:srgbClr val="2B2F37"/>
                </a:solidFill>
              </a:defRPr>
            </a:pPr>
            <a:r>
              <a:rPr dirty="0"/>
              <a:t>Matching &amp; Persistence</a:t>
            </a:r>
            <a:br>
              <a:rPr dirty="0"/>
            </a:br>
            <a:br>
              <a:rPr dirty="0"/>
            </a:br>
            <a:r>
              <a:rPr dirty="0"/>
              <a:t>Matching Score</a:t>
            </a:r>
            <a:br>
              <a:rPr dirty="0"/>
            </a:br>
            <a:r>
              <a:rPr dirty="0"/>
              <a:t>File Handling</a:t>
            </a:r>
            <a:br>
              <a:rPr dirty="0"/>
            </a:br>
            <a:r>
              <a:rPr dirty="0"/>
              <a:t>Statistics + main()</a:t>
            </a:r>
            <a:endParaRPr lang="en-IN" dirty="0"/>
          </a:p>
          <a:p>
            <a:pPr>
              <a:spcBef>
                <a:spcPts val="600"/>
              </a:spcBef>
              <a:defRPr sz="1350">
                <a:solidFill>
                  <a:srgbClr val="2B2F37"/>
                </a:solidFill>
              </a:defRPr>
            </a:pPr>
            <a:r>
              <a:rPr lang="en-IN" dirty="0"/>
              <a:t>1. </a:t>
            </a:r>
            <a:r>
              <a:rPr lang="en-IN" dirty="0" err="1"/>
              <a:t>calculateMatchScore</a:t>
            </a:r>
            <a:r>
              <a:rPr lang="en-IN" dirty="0"/>
              <a:t>()</a:t>
            </a:r>
          </a:p>
          <a:p>
            <a:pPr>
              <a:spcBef>
                <a:spcPts val="600"/>
              </a:spcBef>
              <a:defRPr sz="1350">
                <a:solidFill>
                  <a:srgbClr val="2B2F37"/>
                </a:solidFill>
              </a:defRPr>
            </a:pPr>
            <a:r>
              <a:rPr lang="en-IN" dirty="0"/>
              <a:t>2. </a:t>
            </a:r>
            <a:r>
              <a:rPr lang="en-IN" dirty="0" err="1"/>
              <a:t>displayMatchStatus</a:t>
            </a:r>
            <a:r>
              <a:rPr lang="en-IN" dirty="0"/>
              <a:t>()</a:t>
            </a:r>
          </a:p>
          <a:p>
            <a:pPr>
              <a:spcBef>
                <a:spcPts val="600"/>
              </a:spcBef>
              <a:defRPr sz="1350">
                <a:solidFill>
                  <a:srgbClr val="2B2F37"/>
                </a:solidFill>
              </a:defRPr>
            </a:pPr>
            <a:r>
              <a:rPr lang="en-IN" dirty="0"/>
              <a:t>3. </a:t>
            </a:r>
            <a:r>
              <a:rPr lang="en-IN" dirty="0" err="1"/>
              <a:t>findMatches</a:t>
            </a:r>
            <a:r>
              <a:rPr lang="en-IN" dirty="0"/>
              <a:t>()</a:t>
            </a:r>
          </a:p>
          <a:p>
            <a:pPr>
              <a:spcBef>
                <a:spcPts val="600"/>
              </a:spcBef>
              <a:defRPr sz="1350">
                <a:solidFill>
                  <a:srgbClr val="2B2F37"/>
                </a:solidFill>
              </a:defRPr>
            </a:pPr>
            <a:r>
              <a:rPr lang="en-IN" dirty="0"/>
              <a:t>4. </a:t>
            </a:r>
            <a:r>
              <a:rPr lang="en-IN" dirty="0" err="1"/>
              <a:t>resolveItem</a:t>
            </a:r>
            <a:r>
              <a:rPr lang="en-IN" dirty="0"/>
              <a:t>()</a:t>
            </a:r>
          </a:p>
          <a:p>
            <a:pPr>
              <a:spcBef>
                <a:spcPts val="600"/>
              </a:spcBef>
              <a:defRPr sz="1350">
                <a:solidFill>
                  <a:srgbClr val="2B2F37"/>
                </a:solidFill>
              </a:defRPr>
            </a:pPr>
            <a:r>
              <a:rPr lang="en-IN" dirty="0"/>
              <a:t>5. </a:t>
            </a:r>
            <a:r>
              <a:rPr lang="en-IN" dirty="0" err="1"/>
              <a:t>showStatistics</a:t>
            </a:r>
            <a:r>
              <a:rPr lang="en-IN" dirty="0"/>
              <a:t>()</a:t>
            </a:r>
          </a:p>
          <a:p>
            <a:pPr>
              <a:spcBef>
                <a:spcPts val="600"/>
              </a:spcBef>
              <a:defRPr sz="1350">
                <a:solidFill>
                  <a:srgbClr val="2B2F37"/>
                </a:solidFill>
              </a:defRPr>
            </a:pPr>
            <a:r>
              <a:rPr lang="en-IN" dirty="0"/>
              <a:t>6. </a:t>
            </a:r>
            <a:r>
              <a:rPr lang="en-IN" dirty="0" err="1"/>
              <a:t>saveToFile</a:t>
            </a:r>
            <a:r>
              <a:rPr lang="en-IN" dirty="0"/>
              <a:t>()</a:t>
            </a:r>
          </a:p>
          <a:p>
            <a:pPr>
              <a:spcBef>
                <a:spcPts val="600"/>
              </a:spcBef>
              <a:defRPr sz="1350">
                <a:solidFill>
                  <a:srgbClr val="2B2F37"/>
                </a:solidFill>
              </a:defRPr>
            </a:pPr>
            <a:r>
              <a:rPr lang="en-IN" dirty="0"/>
              <a:t>7. </a:t>
            </a:r>
            <a:r>
              <a:rPr lang="en-IN" dirty="0" err="1"/>
              <a:t>saveAllData</a:t>
            </a:r>
            <a:r>
              <a:rPr lang="en-IN" dirty="0"/>
              <a:t>()</a:t>
            </a:r>
          </a:p>
          <a:p>
            <a:pPr>
              <a:spcBef>
                <a:spcPts val="600"/>
              </a:spcBef>
              <a:defRPr sz="1350">
                <a:solidFill>
                  <a:srgbClr val="2B2F37"/>
                </a:solidFill>
              </a:defRPr>
            </a:pPr>
            <a:r>
              <a:rPr lang="en-IN" dirty="0"/>
              <a:t>8. </a:t>
            </a:r>
            <a:r>
              <a:rPr lang="en-IN" dirty="0" err="1"/>
              <a:t>loadFromFile</a:t>
            </a:r>
            <a:r>
              <a:rPr lang="en-IN" dirty="0"/>
              <a:t>()</a:t>
            </a:r>
          </a:p>
          <a:p>
            <a:pPr>
              <a:spcBef>
                <a:spcPts val="600"/>
              </a:spcBef>
              <a:defRPr sz="1350">
                <a:solidFill>
                  <a:srgbClr val="2B2F37"/>
                </a:solidFill>
              </a:defRPr>
            </a:pPr>
            <a:r>
              <a:rPr lang="en-IN" dirty="0"/>
              <a:t>9. </a:t>
            </a:r>
            <a:r>
              <a:rPr lang="en-IN" dirty="0" err="1"/>
              <a:t>loadAllData</a:t>
            </a:r>
            <a:r>
              <a:rPr lang="en-IN" dirty="0"/>
              <a:t>()</a:t>
            </a:r>
          </a:p>
          <a:p>
            <a:pPr>
              <a:spcBef>
                <a:spcPts val="600"/>
              </a:spcBef>
              <a:defRPr sz="1350">
                <a:solidFill>
                  <a:srgbClr val="2B2F37"/>
                </a:solidFill>
              </a:defRPr>
            </a:pPr>
            <a:r>
              <a:rPr lang="en-IN" dirty="0"/>
              <a:t>10. </a:t>
            </a:r>
            <a:r>
              <a:rPr lang="en-IN" dirty="0" err="1"/>
              <a:t>freeList</a:t>
            </a:r>
            <a:r>
              <a:rPr lang="en-IN" dirty="0"/>
              <a:t>()</a:t>
            </a:r>
          </a:p>
          <a:p>
            <a:pPr>
              <a:spcBef>
                <a:spcPts val="600"/>
              </a:spcBef>
              <a:defRPr sz="1350">
                <a:solidFill>
                  <a:srgbClr val="2B2F37"/>
                </a:solidFill>
              </a:defRPr>
            </a:pPr>
            <a:r>
              <a:rPr lang="en-IN" dirty="0"/>
              <a:t>11. </a:t>
            </a:r>
            <a:r>
              <a:rPr lang="en-IN" dirty="0" err="1"/>
              <a:t>freeHashTable</a:t>
            </a:r>
            <a:r>
              <a:rPr lang="en-IN" dirty="0"/>
              <a:t>()</a:t>
            </a:r>
          </a:p>
          <a:p>
            <a:pPr>
              <a:spcBef>
                <a:spcPts val="600"/>
              </a:spcBef>
              <a:defRPr sz="1350">
                <a:solidFill>
                  <a:srgbClr val="2B2F37"/>
                </a:solidFill>
              </a:defRPr>
            </a:pPr>
            <a:r>
              <a:rPr lang="en-IN" dirty="0"/>
              <a:t>12. </a:t>
            </a:r>
            <a:r>
              <a:rPr lang="en-IN" dirty="0" err="1"/>
              <a:t>displayMenu</a:t>
            </a:r>
            <a:r>
              <a:rPr lang="en-IN" dirty="0"/>
              <a:t>()</a:t>
            </a:r>
          </a:p>
          <a:p>
            <a:pPr>
              <a:spcBef>
                <a:spcPts val="600"/>
              </a:spcBef>
              <a:defRPr sz="1350">
                <a:solidFill>
                  <a:srgbClr val="2B2F37"/>
                </a:solidFill>
              </a:defRPr>
            </a:pPr>
            <a:r>
              <a:rPr lang="en-IN" dirty="0"/>
              <a:t>13. main()</a:t>
            </a:r>
          </a:p>
        </p:txBody>
      </p:sp>
      <p:sp>
        <p:nvSpPr>
          <p:cNvPr id="10" name="TextBox 9"/>
          <p:cNvSpPr txBox="1"/>
          <p:nvPr/>
        </p:nvSpPr>
        <p:spPr>
          <a:xfrm>
            <a:off x="502920" y="6446520"/>
            <a:ext cx="11064240" cy="228600"/>
          </a:xfrm>
          <a:prstGeom prst="rect">
            <a:avLst/>
          </a:prstGeom>
          <a:noFill/>
        </p:spPr>
        <p:txBody>
          <a:bodyPr wrap="none">
            <a:spAutoFit/>
          </a:bodyPr>
          <a:lstStyle/>
          <a:p>
            <a:pPr>
              <a:defRPr sz="900">
                <a:solidFill>
                  <a:srgbClr val="5B626E"/>
                </a:solidFill>
              </a:defRPr>
            </a:pPr>
            <a:r>
              <a:t>Campus Lost &amp; Found Matcher  |  DSA Project  |  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594360"/>
          </a:xfrm>
          <a:prstGeom prst="rect">
            <a:avLst/>
          </a:prstGeom>
          <a:noFill/>
        </p:spPr>
        <p:txBody>
          <a:bodyPr wrap="none">
            <a:spAutoFit/>
          </a:bodyPr>
          <a:lstStyle/>
          <a:p>
            <a:pPr>
              <a:defRPr sz="2500" b="1">
                <a:solidFill>
                  <a:srgbClr val="19273A"/>
                </a:solidFill>
                <a:latin typeface="Aptos Display"/>
              </a:defRPr>
            </a:pPr>
            <a:r>
              <a:t>17. Algorithm &amp; Pseudocode — Report Lost / Found Item</a:t>
            </a:r>
          </a:p>
        </p:txBody>
      </p:sp>
      <p:sp>
        <p:nvSpPr>
          <p:cNvPr id="4" name="Rounded Rectangle 3"/>
          <p:cNvSpPr/>
          <p:nvPr/>
        </p:nvSpPr>
        <p:spPr>
          <a:xfrm>
            <a:off x="438912" y="1127865"/>
            <a:ext cx="11356848" cy="50292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621792" y="1229770"/>
            <a:ext cx="10927080" cy="320040"/>
          </a:xfrm>
          <a:prstGeom prst="rect">
            <a:avLst/>
          </a:prstGeom>
          <a:noFill/>
        </p:spPr>
        <p:txBody>
          <a:bodyPr wrap="none">
            <a:spAutoFit/>
          </a:bodyPr>
          <a:lstStyle/>
          <a:p>
            <a:pPr>
              <a:defRPr sz="1080" b="1">
                <a:solidFill>
                  <a:srgbClr val="1E40AF"/>
                </a:solidFill>
              </a:defRPr>
            </a:pPr>
            <a:r>
              <a:t>ALGORITHM: Input details → create Item → assign ID → insert in linked list → insert in hash table → save.</a:t>
            </a:r>
          </a:p>
        </p:txBody>
      </p:sp>
      <p:sp>
        <p:nvSpPr>
          <p:cNvPr id="6" name="Rounded Rectangle 5"/>
          <p:cNvSpPr/>
          <p:nvPr/>
        </p:nvSpPr>
        <p:spPr>
          <a:xfrm>
            <a:off x="411480" y="2212848"/>
            <a:ext cx="5623560" cy="4096511"/>
          </a:xfrm>
          <a:prstGeom prst="roundRect">
            <a:avLst/>
          </a:prstGeom>
          <a:solidFill>
            <a:srgbClr val="FAFBFD"/>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5738" y="2441644"/>
            <a:ext cx="5221224" cy="320040"/>
          </a:xfrm>
          <a:prstGeom prst="rect">
            <a:avLst/>
          </a:prstGeom>
          <a:noFill/>
        </p:spPr>
        <p:txBody>
          <a:bodyPr wrap="none">
            <a:spAutoFit/>
          </a:bodyPr>
          <a:lstStyle/>
          <a:p>
            <a:pPr>
              <a:defRPr sz="1400" b="1">
                <a:solidFill>
                  <a:srgbClr val="2563EB"/>
                </a:solidFill>
              </a:defRPr>
            </a:pPr>
            <a:r>
              <a:rPr dirty="0"/>
              <a:t>PSEUDOCODE</a:t>
            </a:r>
          </a:p>
        </p:txBody>
      </p:sp>
      <p:sp>
        <p:nvSpPr>
          <p:cNvPr id="8" name="TextBox 7"/>
          <p:cNvSpPr txBox="1"/>
          <p:nvPr/>
        </p:nvSpPr>
        <p:spPr>
          <a:xfrm>
            <a:off x="749808" y="2928882"/>
            <a:ext cx="5221224" cy="2908489"/>
          </a:xfrm>
          <a:prstGeom prst="rect">
            <a:avLst/>
          </a:prstGeom>
          <a:noFill/>
        </p:spPr>
        <p:txBody>
          <a:bodyPr wrap="square">
            <a:spAutoFit/>
          </a:bodyPr>
          <a:lstStyle/>
          <a:p>
            <a:pPr>
              <a:spcAft>
                <a:spcPts val="200"/>
              </a:spcAft>
              <a:defRPr sz="930">
                <a:solidFill>
                  <a:srgbClr val="232A32"/>
                </a:solidFill>
                <a:latin typeface="Consolas"/>
              </a:defRPr>
            </a:pPr>
            <a:r>
              <a:rPr sz="1400" dirty="0"/>
              <a:t>BEGIN</a:t>
            </a:r>
          </a:p>
          <a:p>
            <a:pPr>
              <a:spcAft>
                <a:spcPts val="200"/>
              </a:spcAft>
              <a:defRPr sz="930">
                <a:solidFill>
                  <a:srgbClr val="232A32"/>
                </a:solidFill>
                <a:latin typeface="Consolas"/>
              </a:defRPr>
            </a:pPr>
            <a:r>
              <a:rPr sz="1400" dirty="0"/>
              <a:t>1. Read item name, category, color, location and date.</a:t>
            </a:r>
          </a:p>
          <a:p>
            <a:pPr>
              <a:spcAft>
                <a:spcPts val="200"/>
              </a:spcAft>
              <a:defRPr sz="930">
                <a:solidFill>
                  <a:srgbClr val="232A32"/>
                </a:solidFill>
                <a:latin typeface="Consolas"/>
              </a:defRPr>
            </a:pPr>
            <a:r>
              <a:rPr sz="1400" dirty="0"/>
              <a:t>2. Allocate memory for a new Item.</a:t>
            </a:r>
          </a:p>
          <a:p>
            <a:pPr>
              <a:spcAft>
                <a:spcPts val="200"/>
              </a:spcAft>
              <a:defRPr sz="930">
                <a:solidFill>
                  <a:srgbClr val="232A32"/>
                </a:solidFill>
                <a:latin typeface="Consolas"/>
              </a:defRPr>
            </a:pPr>
            <a:r>
              <a:rPr sz="1400" dirty="0"/>
              <a:t>3. Set status = 0 and next = NULL.</a:t>
            </a:r>
          </a:p>
          <a:p>
            <a:pPr>
              <a:spcAft>
                <a:spcPts val="200"/>
              </a:spcAft>
              <a:defRPr sz="930">
                <a:solidFill>
                  <a:srgbClr val="232A32"/>
                </a:solidFill>
                <a:latin typeface="Consolas"/>
              </a:defRPr>
            </a:pPr>
            <a:r>
              <a:rPr sz="1400" dirty="0"/>
              <a:t>4. If Lost: assign </a:t>
            </a:r>
            <a:r>
              <a:rPr sz="1400" dirty="0" err="1"/>
              <a:t>nextLostID</a:t>
            </a:r>
            <a:r>
              <a:rPr sz="1400" dirty="0"/>
              <a:t> and increment it.</a:t>
            </a:r>
          </a:p>
          <a:p>
            <a:pPr>
              <a:spcAft>
                <a:spcPts val="200"/>
              </a:spcAft>
              <a:defRPr sz="930">
                <a:solidFill>
                  <a:srgbClr val="232A32"/>
                </a:solidFill>
                <a:latin typeface="Consolas"/>
              </a:defRPr>
            </a:pPr>
            <a:r>
              <a:rPr sz="1400" dirty="0"/>
              <a:t>5. If Found: assign </a:t>
            </a:r>
            <a:r>
              <a:rPr sz="1400" dirty="0" err="1"/>
              <a:t>nextFoundID</a:t>
            </a:r>
            <a:r>
              <a:rPr sz="1400" dirty="0"/>
              <a:t> and increment it.</a:t>
            </a:r>
          </a:p>
          <a:p>
            <a:pPr>
              <a:spcAft>
                <a:spcPts val="200"/>
              </a:spcAft>
              <a:defRPr sz="930">
                <a:solidFill>
                  <a:srgbClr val="232A32"/>
                </a:solidFill>
                <a:latin typeface="Consolas"/>
              </a:defRPr>
            </a:pPr>
            <a:r>
              <a:rPr sz="1400" dirty="0"/>
              <a:t>6. Insert the Item at the end of the correct linked list.</a:t>
            </a:r>
          </a:p>
          <a:p>
            <a:pPr>
              <a:spcAft>
                <a:spcPts val="200"/>
              </a:spcAft>
              <a:defRPr sz="930">
                <a:solidFill>
                  <a:srgbClr val="232A32"/>
                </a:solidFill>
                <a:latin typeface="Consolas"/>
              </a:defRPr>
            </a:pPr>
            <a:r>
              <a:rPr sz="1400" dirty="0"/>
              <a:t>7. Insert the Item pointer into the hash table.</a:t>
            </a:r>
          </a:p>
          <a:p>
            <a:pPr>
              <a:spcAft>
                <a:spcPts val="200"/>
              </a:spcAft>
              <a:defRPr sz="930">
                <a:solidFill>
                  <a:srgbClr val="232A32"/>
                </a:solidFill>
                <a:latin typeface="Consolas"/>
              </a:defRPr>
            </a:pPr>
            <a:r>
              <a:rPr sz="1400" dirty="0"/>
              <a:t>8. Display the generated Item ID.</a:t>
            </a:r>
          </a:p>
          <a:p>
            <a:pPr>
              <a:spcAft>
                <a:spcPts val="200"/>
              </a:spcAft>
              <a:defRPr sz="930">
                <a:solidFill>
                  <a:srgbClr val="232A32"/>
                </a:solidFill>
                <a:latin typeface="Consolas"/>
              </a:defRPr>
            </a:pPr>
            <a:r>
              <a:rPr sz="1400" dirty="0"/>
              <a:t>END</a:t>
            </a:r>
          </a:p>
        </p:txBody>
      </p:sp>
      <p:pic>
        <p:nvPicPr>
          <p:cNvPr id="9" name="Picture 8">
            <a:extLst>
              <a:ext uri="{FF2B5EF4-FFF2-40B4-BE49-F238E27FC236}">
                <a16:creationId xmlns:a16="http://schemas.microsoft.com/office/drawing/2014/main" id="{13A34550-2E87-6924-3DD7-5BC78E6171ED}"/>
              </a:ext>
            </a:extLst>
          </p:cNvPr>
          <p:cNvPicPr>
            <a:picLocks noChangeAspect="1"/>
          </p:cNvPicPr>
          <p:nvPr/>
        </p:nvPicPr>
        <p:blipFill>
          <a:blip r:embed="rId2"/>
          <a:srcRect t="53854" r="9787" b="-43034"/>
          <a:stretch>
            <a:fillRect/>
          </a:stretch>
        </p:blipFill>
        <p:spPr>
          <a:xfrm>
            <a:off x="6606571" y="1848464"/>
            <a:ext cx="4570045" cy="4244584"/>
          </a:xfrm>
          <a:prstGeom prst="rect">
            <a:avLst/>
          </a:prstGeom>
        </p:spPr>
      </p:pic>
      <p:pic>
        <p:nvPicPr>
          <p:cNvPr id="11" name="Picture 10">
            <a:extLst>
              <a:ext uri="{FF2B5EF4-FFF2-40B4-BE49-F238E27FC236}">
                <a16:creationId xmlns:a16="http://schemas.microsoft.com/office/drawing/2014/main" id="{5440B3AD-74C7-8F30-65AA-8C17457A38D2}"/>
              </a:ext>
            </a:extLst>
          </p:cNvPr>
          <p:cNvPicPr>
            <a:picLocks noChangeAspect="1"/>
          </p:cNvPicPr>
          <p:nvPr/>
        </p:nvPicPr>
        <p:blipFill>
          <a:blip r:embed="rId3"/>
          <a:stretch>
            <a:fillRect/>
          </a:stretch>
        </p:blipFill>
        <p:spPr>
          <a:xfrm>
            <a:off x="6606570" y="4261103"/>
            <a:ext cx="4570046" cy="22812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594360"/>
          </a:xfrm>
          <a:prstGeom prst="rect">
            <a:avLst/>
          </a:prstGeom>
          <a:noFill/>
        </p:spPr>
        <p:txBody>
          <a:bodyPr wrap="none">
            <a:spAutoFit/>
          </a:bodyPr>
          <a:lstStyle/>
          <a:p>
            <a:pPr>
              <a:defRPr sz="2500" b="1">
                <a:solidFill>
                  <a:srgbClr val="19273A"/>
                </a:solidFill>
                <a:latin typeface="Aptos Display"/>
              </a:defRPr>
            </a:pPr>
            <a:r>
              <a:t>18. Algorithm &amp; Pseudocode — Search Item</a:t>
            </a:r>
          </a:p>
        </p:txBody>
      </p:sp>
      <p:sp>
        <p:nvSpPr>
          <p:cNvPr id="4" name="Rounded Rectangle 3"/>
          <p:cNvSpPr/>
          <p:nvPr/>
        </p:nvSpPr>
        <p:spPr>
          <a:xfrm>
            <a:off x="411480" y="932688"/>
            <a:ext cx="11356848" cy="50292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1014984"/>
            <a:ext cx="10927080" cy="320040"/>
          </a:xfrm>
          <a:prstGeom prst="rect">
            <a:avLst/>
          </a:prstGeom>
          <a:noFill/>
        </p:spPr>
        <p:txBody>
          <a:bodyPr wrap="none">
            <a:spAutoFit/>
          </a:bodyPr>
          <a:lstStyle/>
          <a:p>
            <a:pPr>
              <a:defRPr sz="1080" b="1">
                <a:solidFill>
                  <a:srgbClr val="1E40AF"/>
                </a:solidFill>
              </a:defRPr>
            </a:pPr>
            <a:r>
              <a:t>ALGORITHM: Choose ID / Name / Category / Location → use hash search or linked-list traversal → display result.</a:t>
            </a:r>
          </a:p>
        </p:txBody>
      </p:sp>
      <p:sp>
        <p:nvSpPr>
          <p:cNvPr id="6" name="Rounded Rectangle 5"/>
          <p:cNvSpPr/>
          <p:nvPr/>
        </p:nvSpPr>
        <p:spPr>
          <a:xfrm>
            <a:off x="210312" y="1572768"/>
            <a:ext cx="5623560" cy="4736592"/>
          </a:xfrm>
          <a:prstGeom prst="roundRect">
            <a:avLst/>
          </a:prstGeom>
          <a:solidFill>
            <a:srgbClr val="FAFBFD"/>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648" y="1709928"/>
            <a:ext cx="5221224" cy="320040"/>
          </a:xfrm>
          <a:prstGeom prst="rect">
            <a:avLst/>
          </a:prstGeom>
          <a:noFill/>
        </p:spPr>
        <p:txBody>
          <a:bodyPr wrap="none">
            <a:spAutoFit/>
          </a:bodyPr>
          <a:lstStyle/>
          <a:p>
            <a:pPr>
              <a:defRPr sz="1400" b="1">
                <a:solidFill>
                  <a:srgbClr val="2563EB"/>
                </a:solidFill>
              </a:defRPr>
            </a:pPr>
            <a:r>
              <a:t>PSEUDOCODE</a:t>
            </a:r>
          </a:p>
        </p:txBody>
      </p:sp>
      <p:sp>
        <p:nvSpPr>
          <p:cNvPr id="8" name="TextBox 7"/>
          <p:cNvSpPr txBox="1"/>
          <p:nvPr/>
        </p:nvSpPr>
        <p:spPr>
          <a:xfrm>
            <a:off x="612648" y="2075688"/>
            <a:ext cx="5221224" cy="3416320"/>
          </a:xfrm>
          <a:prstGeom prst="rect">
            <a:avLst/>
          </a:prstGeom>
          <a:noFill/>
        </p:spPr>
        <p:txBody>
          <a:bodyPr wrap="square">
            <a:spAutoFit/>
          </a:bodyPr>
          <a:lstStyle/>
          <a:p>
            <a:pPr>
              <a:spcAft>
                <a:spcPts val="200"/>
              </a:spcAft>
              <a:defRPr sz="930">
                <a:solidFill>
                  <a:srgbClr val="232A32"/>
                </a:solidFill>
                <a:latin typeface="Consolas"/>
              </a:defRPr>
            </a:pPr>
            <a:r>
              <a:rPr sz="1400" dirty="0"/>
              <a:t>BEGIN</a:t>
            </a:r>
          </a:p>
          <a:p>
            <a:pPr>
              <a:spcAft>
                <a:spcPts val="200"/>
              </a:spcAft>
              <a:defRPr sz="930">
                <a:solidFill>
                  <a:srgbClr val="232A32"/>
                </a:solidFill>
                <a:latin typeface="Consolas"/>
              </a:defRPr>
            </a:pPr>
            <a:r>
              <a:rPr sz="1400" dirty="0"/>
              <a:t>1. Display four search choices.</a:t>
            </a:r>
          </a:p>
          <a:p>
            <a:pPr>
              <a:spcAft>
                <a:spcPts val="200"/>
              </a:spcAft>
              <a:defRPr sz="930">
                <a:solidFill>
                  <a:srgbClr val="232A32"/>
                </a:solidFill>
                <a:latin typeface="Consolas"/>
              </a:defRPr>
            </a:pPr>
            <a:r>
              <a:rPr sz="1400" dirty="0"/>
              <a:t>2. Read the user's choice.</a:t>
            </a:r>
          </a:p>
          <a:p>
            <a:pPr>
              <a:spcAft>
                <a:spcPts val="200"/>
              </a:spcAft>
              <a:defRPr sz="930">
                <a:solidFill>
                  <a:srgbClr val="232A32"/>
                </a:solidFill>
                <a:latin typeface="Consolas"/>
              </a:defRPr>
            </a:pPr>
            <a:r>
              <a:rPr sz="1400" dirty="0"/>
              <a:t>3. If ID:</a:t>
            </a:r>
          </a:p>
          <a:p>
            <a:pPr>
              <a:spcAft>
                <a:spcPts val="200"/>
              </a:spcAft>
              <a:defRPr sz="930">
                <a:solidFill>
                  <a:srgbClr val="232A32"/>
                </a:solidFill>
                <a:latin typeface="Consolas"/>
              </a:defRPr>
            </a:pPr>
            <a:r>
              <a:rPr sz="1400" dirty="0"/>
              <a:t>   • Compute index = ID % TABLE_SIZE.</a:t>
            </a:r>
          </a:p>
          <a:p>
            <a:pPr>
              <a:spcAft>
                <a:spcPts val="200"/>
              </a:spcAft>
              <a:defRPr sz="930">
                <a:solidFill>
                  <a:srgbClr val="232A32"/>
                </a:solidFill>
                <a:latin typeface="Consolas"/>
              </a:defRPr>
            </a:pPr>
            <a:r>
              <a:rPr sz="1400" dirty="0"/>
              <a:t>   • Traverse the bucket chain.</a:t>
            </a:r>
          </a:p>
          <a:p>
            <a:pPr>
              <a:spcAft>
                <a:spcPts val="200"/>
              </a:spcAft>
              <a:defRPr sz="930">
                <a:solidFill>
                  <a:srgbClr val="232A32"/>
                </a:solidFill>
                <a:latin typeface="Consolas"/>
              </a:defRPr>
            </a:pPr>
            <a:r>
              <a:rPr sz="1400" dirty="0"/>
              <a:t>   • Return the matching Item pointer.</a:t>
            </a:r>
          </a:p>
          <a:p>
            <a:pPr>
              <a:spcAft>
                <a:spcPts val="200"/>
              </a:spcAft>
              <a:defRPr sz="930">
                <a:solidFill>
                  <a:srgbClr val="232A32"/>
                </a:solidFill>
                <a:latin typeface="Consolas"/>
              </a:defRPr>
            </a:pPr>
            <a:r>
              <a:rPr sz="1400" dirty="0"/>
              <a:t>4. If Name, Category or Location:</a:t>
            </a:r>
          </a:p>
          <a:p>
            <a:pPr>
              <a:spcAft>
                <a:spcPts val="200"/>
              </a:spcAft>
              <a:defRPr sz="930">
                <a:solidFill>
                  <a:srgbClr val="232A32"/>
                </a:solidFill>
                <a:latin typeface="Consolas"/>
              </a:defRPr>
            </a:pPr>
            <a:r>
              <a:rPr sz="1400" dirty="0"/>
              <a:t>   • Traverse lost list and found list.</a:t>
            </a:r>
          </a:p>
          <a:p>
            <a:pPr>
              <a:spcAft>
                <a:spcPts val="200"/>
              </a:spcAft>
              <a:defRPr sz="930">
                <a:solidFill>
                  <a:srgbClr val="232A32"/>
                </a:solidFill>
                <a:latin typeface="Consolas"/>
              </a:defRPr>
            </a:pPr>
            <a:r>
              <a:rPr sz="1400" dirty="0"/>
              <a:t>   • Compare using </a:t>
            </a:r>
            <a:r>
              <a:rPr sz="1400" dirty="0" err="1"/>
              <a:t>stringEqualIgnoreCase</a:t>
            </a:r>
            <a:r>
              <a:rPr sz="1400" dirty="0"/>
              <a:t>().</a:t>
            </a:r>
          </a:p>
          <a:p>
            <a:pPr>
              <a:spcAft>
                <a:spcPts val="200"/>
              </a:spcAft>
              <a:defRPr sz="930">
                <a:solidFill>
                  <a:srgbClr val="232A32"/>
                </a:solidFill>
                <a:latin typeface="Consolas"/>
              </a:defRPr>
            </a:pPr>
            <a:r>
              <a:rPr sz="1400" dirty="0"/>
              <a:t>   • Display every matching record.</a:t>
            </a:r>
          </a:p>
          <a:p>
            <a:pPr>
              <a:spcAft>
                <a:spcPts val="200"/>
              </a:spcAft>
              <a:defRPr sz="930">
                <a:solidFill>
                  <a:srgbClr val="232A32"/>
                </a:solidFill>
                <a:latin typeface="Consolas"/>
              </a:defRPr>
            </a:pPr>
            <a:r>
              <a:rPr sz="1400" dirty="0"/>
              <a:t>5. If no record is found, display the not-found message.</a:t>
            </a:r>
          </a:p>
          <a:p>
            <a:pPr>
              <a:spcAft>
                <a:spcPts val="200"/>
              </a:spcAft>
              <a:defRPr sz="930">
                <a:solidFill>
                  <a:srgbClr val="232A32"/>
                </a:solidFill>
                <a:latin typeface="Consolas"/>
              </a:defRPr>
            </a:pPr>
            <a:r>
              <a:rPr sz="1400" dirty="0"/>
              <a:t>END</a:t>
            </a:r>
          </a:p>
        </p:txBody>
      </p:sp>
      <p:pic>
        <p:nvPicPr>
          <p:cNvPr id="9" name="Picture 8">
            <a:extLst>
              <a:ext uri="{FF2B5EF4-FFF2-40B4-BE49-F238E27FC236}">
                <a16:creationId xmlns:a16="http://schemas.microsoft.com/office/drawing/2014/main" id="{28404714-E860-DF1E-3AD9-31ED6EFBCA6A}"/>
              </a:ext>
            </a:extLst>
          </p:cNvPr>
          <p:cNvPicPr>
            <a:picLocks noChangeAspect="1"/>
          </p:cNvPicPr>
          <p:nvPr/>
        </p:nvPicPr>
        <p:blipFill>
          <a:blip r:embed="rId2"/>
          <a:stretch>
            <a:fillRect/>
          </a:stretch>
        </p:blipFill>
        <p:spPr>
          <a:xfrm>
            <a:off x="6089904" y="1517904"/>
            <a:ext cx="5725504" cy="503401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594360"/>
          </a:xfrm>
          <a:prstGeom prst="rect">
            <a:avLst/>
          </a:prstGeom>
          <a:noFill/>
        </p:spPr>
        <p:txBody>
          <a:bodyPr wrap="none">
            <a:spAutoFit/>
          </a:bodyPr>
          <a:lstStyle/>
          <a:p>
            <a:pPr>
              <a:defRPr sz="2500" b="1">
                <a:solidFill>
                  <a:srgbClr val="19273A"/>
                </a:solidFill>
                <a:latin typeface="Aptos Display"/>
              </a:defRPr>
            </a:pPr>
            <a:r>
              <a:t>19. Algorithm &amp; Pseudocode — Find Possible Match</a:t>
            </a:r>
          </a:p>
        </p:txBody>
      </p:sp>
      <p:sp>
        <p:nvSpPr>
          <p:cNvPr id="4" name="Rounded Rectangle 3"/>
          <p:cNvSpPr/>
          <p:nvPr/>
        </p:nvSpPr>
        <p:spPr>
          <a:xfrm>
            <a:off x="411480" y="932688"/>
            <a:ext cx="11356848" cy="50292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1014984"/>
            <a:ext cx="10927080" cy="320040"/>
          </a:xfrm>
          <a:prstGeom prst="rect">
            <a:avLst/>
          </a:prstGeom>
          <a:noFill/>
        </p:spPr>
        <p:txBody>
          <a:bodyPr wrap="none">
            <a:spAutoFit/>
          </a:bodyPr>
          <a:lstStyle/>
          <a:p>
            <a:pPr>
              <a:defRPr sz="1080" b="1">
                <a:solidFill>
                  <a:srgbClr val="1E40AF"/>
                </a:solidFill>
              </a:defRPr>
            </a:pPr>
            <a:r>
              <a:t>ALGORITHM: Find lost record by ID → compare every ACTIVE found record → calculate 100-point score → display scores ≥ 30.</a:t>
            </a:r>
          </a:p>
        </p:txBody>
      </p:sp>
      <p:sp>
        <p:nvSpPr>
          <p:cNvPr id="6" name="Rounded Rectangle 5"/>
          <p:cNvSpPr/>
          <p:nvPr/>
        </p:nvSpPr>
        <p:spPr>
          <a:xfrm>
            <a:off x="411480" y="1572768"/>
            <a:ext cx="5623560" cy="4736592"/>
          </a:xfrm>
          <a:prstGeom prst="roundRect">
            <a:avLst/>
          </a:prstGeom>
          <a:solidFill>
            <a:srgbClr val="FAFBFD"/>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648" y="1709928"/>
            <a:ext cx="5221224" cy="320040"/>
          </a:xfrm>
          <a:prstGeom prst="rect">
            <a:avLst/>
          </a:prstGeom>
          <a:noFill/>
        </p:spPr>
        <p:txBody>
          <a:bodyPr wrap="none">
            <a:spAutoFit/>
          </a:bodyPr>
          <a:lstStyle/>
          <a:p>
            <a:pPr>
              <a:defRPr sz="1400" b="1">
                <a:solidFill>
                  <a:srgbClr val="2563EB"/>
                </a:solidFill>
              </a:defRPr>
            </a:pPr>
            <a:r>
              <a:t>PSEUDOCODE</a:t>
            </a:r>
          </a:p>
        </p:txBody>
      </p:sp>
      <p:sp>
        <p:nvSpPr>
          <p:cNvPr id="8" name="TextBox 7"/>
          <p:cNvSpPr txBox="1"/>
          <p:nvPr/>
        </p:nvSpPr>
        <p:spPr>
          <a:xfrm>
            <a:off x="612648" y="2075688"/>
            <a:ext cx="5623560" cy="4062651"/>
          </a:xfrm>
          <a:prstGeom prst="rect">
            <a:avLst/>
          </a:prstGeom>
          <a:noFill/>
        </p:spPr>
        <p:txBody>
          <a:bodyPr wrap="square">
            <a:spAutoFit/>
          </a:bodyPr>
          <a:lstStyle/>
          <a:p>
            <a:pPr>
              <a:spcAft>
                <a:spcPts val="200"/>
              </a:spcAft>
              <a:defRPr sz="930">
                <a:solidFill>
                  <a:srgbClr val="232A32"/>
                </a:solidFill>
                <a:latin typeface="Consolas"/>
              </a:defRPr>
            </a:pPr>
            <a:r>
              <a:rPr sz="1200" dirty="0"/>
              <a:t>BEGIN</a:t>
            </a:r>
          </a:p>
          <a:p>
            <a:pPr>
              <a:spcAft>
                <a:spcPts val="200"/>
              </a:spcAft>
              <a:defRPr sz="930">
                <a:solidFill>
                  <a:srgbClr val="232A32"/>
                </a:solidFill>
                <a:latin typeface="Consolas"/>
              </a:defRPr>
            </a:pPr>
            <a:r>
              <a:rPr sz="1200" dirty="0"/>
              <a:t>1. Check that lost and found lists are not empty.</a:t>
            </a:r>
          </a:p>
          <a:p>
            <a:pPr>
              <a:spcAft>
                <a:spcPts val="200"/>
              </a:spcAft>
              <a:defRPr sz="930">
                <a:solidFill>
                  <a:srgbClr val="232A32"/>
                </a:solidFill>
                <a:latin typeface="Consolas"/>
              </a:defRPr>
            </a:pPr>
            <a:r>
              <a:rPr sz="1200" dirty="0"/>
              <a:t>2. Read the Lost Item ID.</a:t>
            </a:r>
          </a:p>
          <a:p>
            <a:pPr>
              <a:spcAft>
                <a:spcPts val="200"/>
              </a:spcAft>
              <a:defRPr sz="930">
                <a:solidFill>
                  <a:srgbClr val="232A32"/>
                </a:solidFill>
                <a:latin typeface="Consolas"/>
              </a:defRPr>
            </a:pPr>
            <a:r>
              <a:rPr sz="1200" dirty="0"/>
              <a:t>3. Find the lost item using </a:t>
            </a:r>
            <a:r>
              <a:rPr sz="1200" dirty="0" err="1"/>
              <a:t>hashSearch</a:t>
            </a:r>
            <a:r>
              <a:rPr sz="1200" dirty="0"/>
              <a:t>().</a:t>
            </a:r>
          </a:p>
          <a:p>
            <a:pPr>
              <a:spcAft>
                <a:spcPts val="200"/>
              </a:spcAft>
              <a:defRPr sz="930">
                <a:solidFill>
                  <a:srgbClr val="232A32"/>
                </a:solidFill>
                <a:latin typeface="Consolas"/>
              </a:defRPr>
            </a:pPr>
            <a:r>
              <a:rPr sz="1200" dirty="0"/>
              <a:t>4. Reject if the ID is invalid or the lost item is resolved.</a:t>
            </a:r>
          </a:p>
          <a:p>
            <a:pPr>
              <a:spcAft>
                <a:spcPts val="200"/>
              </a:spcAft>
              <a:defRPr sz="930">
                <a:solidFill>
                  <a:srgbClr val="232A32"/>
                </a:solidFill>
                <a:latin typeface="Consolas"/>
              </a:defRPr>
            </a:pPr>
            <a:r>
              <a:rPr sz="1200" dirty="0"/>
              <a:t>5. Set current = </a:t>
            </a:r>
            <a:r>
              <a:rPr sz="1200" dirty="0" err="1"/>
              <a:t>foundHead</a:t>
            </a:r>
            <a:r>
              <a:rPr sz="1200" dirty="0"/>
              <a:t>.</a:t>
            </a:r>
          </a:p>
          <a:p>
            <a:pPr>
              <a:spcAft>
                <a:spcPts val="200"/>
              </a:spcAft>
              <a:defRPr sz="930">
                <a:solidFill>
                  <a:srgbClr val="232A32"/>
                </a:solidFill>
                <a:latin typeface="Consolas"/>
              </a:defRPr>
            </a:pPr>
            <a:r>
              <a:rPr sz="1200" dirty="0"/>
              <a:t>6. While current != NULL:</a:t>
            </a:r>
          </a:p>
          <a:p>
            <a:pPr>
              <a:spcAft>
                <a:spcPts val="200"/>
              </a:spcAft>
              <a:defRPr sz="930">
                <a:solidFill>
                  <a:srgbClr val="232A32"/>
                </a:solidFill>
                <a:latin typeface="Consolas"/>
              </a:defRPr>
            </a:pPr>
            <a:r>
              <a:rPr sz="1200" dirty="0"/>
              <a:t>   • If current-&gt;status == 0, calculate score.</a:t>
            </a:r>
          </a:p>
          <a:p>
            <a:pPr>
              <a:spcAft>
                <a:spcPts val="200"/>
              </a:spcAft>
              <a:defRPr sz="930">
                <a:solidFill>
                  <a:srgbClr val="232A32"/>
                </a:solidFill>
                <a:latin typeface="Consolas"/>
              </a:defRPr>
            </a:pPr>
            <a:r>
              <a:rPr sz="1200" dirty="0"/>
              <a:t>   • Name match → +40</a:t>
            </a:r>
          </a:p>
          <a:p>
            <a:pPr>
              <a:spcAft>
                <a:spcPts val="200"/>
              </a:spcAft>
              <a:defRPr sz="930">
                <a:solidFill>
                  <a:srgbClr val="232A32"/>
                </a:solidFill>
                <a:latin typeface="Consolas"/>
              </a:defRPr>
            </a:pPr>
            <a:r>
              <a:rPr sz="1200" dirty="0"/>
              <a:t>   • Category match → +20</a:t>
            </a:r>
          </a:p>
          <a:p>
            <a:pPr>
              <a:spcAft>
                <a:spcPts val="200"/>
              </a:spcAft>
              <a:defRPr sz="930">
                <a:solidFill>
                  <a:srgbClr val="232A32"/>
                </a:solidFill>
                <a:latin typeface="Consolas"/>
              </a:defRPr>
            </a:pPr>
            <a:r>
              <a:rPr sz="1200" dirty="0"/>
              <a:t>   • Color match → +15</a:t>
            </a:r>
          </a:p>
          <a:p>
            <a:pPr>
              <a:spcAft>
                <a:spcPts val="200"/>
              </a:spcAft>
              <a:defRPr sz="930">
                <a:solidFill>
                  <a:srgbClr val="232A32"/>
                </a:solidFill>
                <a:latin typeface="Consolas"/>
              </a:defRPr>
            </a:pPr>
            <a:r>
              <a:rPr sz="1200" dirty="0"/>
              <a:t>   • Location match → +25</a:t>
            </a:r>
          </a:p>
          <a:p>
            <a:pPr>
              <a:spcAft>
                <a:spcPts val="200"/>
              </a:spcAft>
              <a:defRPr sz="930">
                <a:solidFill>
                  <a:srgbClr val="232A32"/>
                </a:solidFill>
                <a:latin typeface="Consolas"/>
              </a:defRPr>
            </a:pPr>
            <a:r>
              <a:rPr sz="1200" dirty="0"/>
              <a:t>   • If score &gt;= 30, display possible match.</a:t>
            </a:r>
          </a:p>
          <a:p>
            <a:pPr>
              <a:spcAft>
                <a:spcPts val="200"/>
              </a:spcAft>
              <a:defRPr sz="930">
                <a:solidFill>
                  <a:srgbClr val="232A32"/>
                </a:solidFill>
                <a:latin typeface="Consolas"/>
              </a:defRPr>
            </a:pPr>
            <a:r>
              <a:rPr sz="1200" dirty="0"/>
              <a:t>   • Score &gt;= 80 → STRONG MATCH.</a:t>
            </a:r>
          </a:p>
          <a:p>
            <a:pPr>
              <a:spcAft>
                <a:spcPts val="200"/>
              </a:spcAft>
              <a:defRPr sz="930">
                <a:solidFill>
                  <a:srgbClr val="232A32"/>
                </a:solidFill>
                <a:latin typeface="Consolas"/>
              </a:defRPr>
            </a:pPr>
            <a:r>
              <a:rPr sz="1200" dirty="0"/>
              <a:t>   • Score &gt;= 50 → POSSIBLE MATCH.</a:t>
            </a:r>
          </a:p>
          <a:p>
            <a:pPr>
              <a:spcAft>
                <a:spcPts val="200"/>
              </a:spcAft>
              <a:defRPr sz="930">
                <a:solidFill>
                  <a:srgbClr val="232A32"/>
                </a:solidFill>
                <a:latin typeface="Consolas"/>
              </a:defRPr>
            </a:pPr>
            <a:r>
              <a:rPr sz="1200" dirty="0"/>
              <a:t>   • Otherwise → WEAK MATCH.</a:t>
            </a:r>
          </a:p>
          <a:p>
            <a:pPr>
              <a:spcAft>
                <a:spcPts val="200"/>
              </a:spcAft>
              <a:defRPr sz="930">
                <a:solidFill>
                  <a:srgbClr val="232A32"/>
                </a:solidFill>
                <a:latin typeface="Consolas"/>
              </a:defRPr>
            </a:pPr>
            <a:r>
              <a:rPr sz="1200" dirty="0"/>
              <a:t>   • Move to current-&gt;next.</a:t>
            </a:r>
          </a:p>
          <a:p>
            <a:pPr>
              <a:spcAft>
                <a:spcPts val="200"/>
              </a:spcAft>
              <a:defRPr sz="930">
                <a:solidFill>
                  <a:srgbClr val="232A32"/>
                </a:solidFill>
                <a:latin typeface="Consolas"/>
              </a:defRPr>
            </a:pPr>
            <a:r>
              <a:rPr sz="1200" dirty="0"/>
              <a:t>7. If no score &gt;= 30, display no possible matches.</a:t>
            </a:r>
          </a:p>
          <a:p>
            <a:pPr>
              <a:spcAft>
                <a:spcPts val="200"/>
              </a:spcAft>
              <a:defRPr sz="930">
                <a:solidFill>
                  <a:srgbClr val="232A32"/>
                </a:solidFill>
                <a:latin typeface="Consolas"/>
              </a:defRPr>
            </a:pPr>
            <a:r>
              <a:rPr sz="1200" dirty="0"/>
              <a:t>END</a:t>
            </a:r>
          </a:p>
        </p:txBody>
      </p:sp>
      <p:pic>
        <p:nvPicPr>
          <p:cNvPr id="9" name="Picture 8">
            <a:extLst>
              <a:ext uri="{FF2B5EF4-FFF2-40B4-BE49-F238E27FC236}">
                <a16:creationId xmlns:a16="http://schemas.microsoft.com/office/drawing/2014/main" id="{37F39448-56ED-EF39-ADC5-DE713F0D94B5}"/>
              </a:ext>
            </a:extLst>
          </p:cNvPr>
          <p:cNvPicPr>
            <a:picLocks noChangeAspect="1"/>
          </p:cNvPicPr>
          <p:nvPr/>
        </p:nvPicPr>
        <p:blipFill>
          <a:blip r:embed="rId2"/>
          <a:stretch>
            <a:fillRect/>
          </a:stretch>
        </p:blipFill>
        <p:spPr>
          <a:xfrm>
            <a:off x="6156962" y="2695736"/>
            <a:ext cx="5858693" cy="209579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5104417" cy="861774"/>
          </a:xfrm>
          <a:prstGeom prst="rect">
            <a:avLst/>
          </a:prstGeom>
          <a:noFill/>
        </p:spPr>
        <p:txBody>
          <a:bodyPr wrap="square">
            <a:spAutoFit/>
          </a:bodyPr>
          <a:lstStyle/>
          <a:p>
            <a:pPr>
              <a:defRPr sz="2500" b="1">
                <a:solidFill>
                  <a:srgbClr val="19273A"/>
                </a:solidFill>
                <a:latin typeface="Aptos Display"/>
              </a:defRPr>
            </a:pPr>
            <a:r>
              <a:rPr dirty="0"/>
              <a:t>20. Matching Score — According to Current Code</a:t>
            </a:r>
          </a:p>
        </p:txBody>
      </p:sp>
      <p:sp>
        <p:nvSpPr>
          <p:cNvPr id="4" name="Rounded Rectangle 3"/>
          <p:cNvSpPr/>
          <p:nvPr/>
        </p:nvSpPr>
        <p:spPr>
          <a:xfrm>
            <a:off x="411480" y="1143000"/>
            <a:ext cx="3727901" cy="5166360"/>
          </a:xfrm>
          <a:prstGeom prst="roundRect">
            <a:avLst/>
          </a:prstGeom>
          <a:solidFill>
            <a:srgbClr val="FAFBFD"/>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12648" y="1280160"/>
            <a:ext cx="5221224" cy="320040"/>
          </a:xfrm>
          <a:prstGeom prst="rect">
            <a:avLst/>
          </a:prstGeom>
          <a:noFill/>
        </p:spPr>
        <p:txBody>
          <a:bodyPr wrap="none">
            <a:spAutoFit/>
          </a:bodyPr>
          <a:lstStyle/>
          <a:p>
            <a:pPr>
              <a:defRPr sz="1400" b="1">
                <a:solidFill>
                  <a:srgbClr val="2563EB"/>
                </a:solidFill>
              </a:defRPr>
            </a:pPr>
            <a:r>
              <a:t>CURRENT MATCHING RULES</a:t>
            </a:r>
          </a:p>
        </p:txBody>
      </p:sp>
      <p:sp>
        <p:nvSpPr>
          <p:cNvPr id="6" name="TextBox 5"/>
          <p:cNvSpPr txBox="1"/>
          <p:nvPr/>
        </p:nvSpPr>
        <p:spPr>
          <a:xfrm>
            <a:off x="612648" y="1645920"/>
            <a:ext cx="5221224" cy="3821559"/>
          </a:xfrm>
          <a:prstGeom prst="rect">
            <a:avLst/>
          </a:prstGeom>
          <a:noFill/>
        </p:spPr>
        <p:txBody>
          <a:bodyPr wrap="square">
            <a:spAutoFit/>
          </a:bodyPr>
          <a:lstStyle/>
          <a:p>
            <a:pPr>
              <a:spcAft>
                <a:spcPts val="200"/>
              </a:spcAft>
              <a:defRPr sz="1100">
                <a:solidFill>
                  <a:srgbClr val="232A32"/>
                </a:solidFill>
                <a:latin typeface="Consolas"/>
              </a:defRPr>
            </a:pPr>
            <a:r>
              <a:rPr sz="1200" dirty="0"/>
              <a:t>MAXIMUM SCORE = 100</a:t>
            </a:r>
          </a:p>
          <a:p>
            <a:pPr>
              <a:spcAft>
                <a:spcPts val="200"/>
              </a:spcAft>
              <a:defRPr sz="1100">
                <a:solidFill>
                  <a:srgbClr val="232A32"/>
                </a:solidFill>
                <a:latin typeface="Consolas"/>
              </a:defRPr>
            </a:pPr>
            <a:endParaRPr sz="1200" dirty="0"/>
          </a:p>
          <a:p>
            <a:pPr>
              <a:spcAft>
                <a:spcPts val="200"/>
              </a:spcAft>
              <a:defRPr sz="1100">
                <a:solidFill>
                  <a:srgbClr val="232A32"/>
                </a:solidFill>
                <a:latin typeface="Consolas"/>
              </a:defRPr>
            </a:pPr>
            <a:r>
              <a:rPr sz="1200" dirty="0"/>
              <a:t>Name       → 40 points</a:t>
            </a:r>
          </a:p>
          <a:p>
            <a:pPr>
              <a:spcAft>
                <a:spcPts val="200"/>
              </a:spcAft>
              <a:defRPr sz="1100">
                <a:solidFill>
                  <a:srgbClr val="232A32"/>
                </a:solidFill>
                <a:latin typeface="Consolas"/>
              </a:defRPr>
            </a:pPr>
            <a:r>
              <a:rPr sz="1200" dirty="0"/>
              <a:t>Category   → 20 points</a:t>
            </a:r>
          </a:p>
          <a:p>
            <a:pPr>
              <a:spcAft>
                <a:spcPts val="200"/>
              </a:spcAft>
              <a:defRPr sz="1100">
                <a:solidFill>
                  <a:srgbClr val="232A32"/>
                </a:solidFill>
                <a:latin typeface="Consolas"/>
              </a:defRPr>
            </a:pPr>
            <a:r>
              <a:rPr sz="1200" dirty="0"/>
              <a:t>Color      → 15 points</a:t>
            </a:r>
          </a:p>
          <a:p>
            <a:pPr>
              <a:spcAft>
                <a:spcPts val="200"/>
              </a:spcAft>
              <a:defRPr sz="1100">
                <a:solidFill>
                  <a:srgbClr val="232A32"/>
                </a:solidFill>
                <a:latin typeface="Consolas"/>
              </a:defRPr>
            </a:pPr>
            <a:r>
              <a:rPr sz="1200" dirty="0"/>
              <a:t>Location   → 25 points</a:t>
            </a:r>
          </a:p>
          <a:p>
            <a:pPr>
              <a:spcAft>
                <a:spcPts val="200"/>
              </a:spcAft>
              <a:defRPr sz="1100">
                <a:solidFill>
                  <a:srgbClr val="232A32"/>
                </a:solidFill>
                <a:latin typeface="Consolas"/>
              </a:defRPr>
            </a:pPr>
            <a:endParaRPr sz="1200" dirty="0"/>
          </a:p>
          <a:p>
            <a:pPr>
              <a:spcAft>
                <a:spcPts val="200"/>
              </a:spcAft>
              <a:defRPr sz="1100">
                <a:solidFill>
                  <a:srgbClr val="232A32"/>
                </a:solidFill>
                <a:latin typeface="Consolas"/>
              </a:defRPr>
            </a:pPr>
            <a:r>
              <a:rPr sz="1200" dirty="0"/>
              <a:t>40 + 20 + 15 + 25 = 100</a:t>
            </a:r>
          </a:p>
          <a:p>
            <a:pPr>
              <a:spcAft>
                <a:spcPts val="200"/>
              </a:spcAft>
              <a:defRPr sz="1100">
                <a:solidFill>
                  <a:srgbClr val="232A32"/>
                </a:solidFill>
                <a:latin typeface="Consolas"/>
              </a:defRPr>
            </a:pPr>
            <a:endParaRPr sz="1200" dirty="0"/>
          </a:p>
          <a:p>
            <a:pPr>
              <a:spcAft>
                <a:spcPts val="200"/>
              </a:spcAft>
              <a:defRPr sz="1100">
                <a:solidFill>
                  <a:srgbClr val="232A32"/>
                </a:solidFill>
                <a:latin typeface="Consolas"/>
              </a:defRPr>
            </a:pPr>
            <a:r>
              <a:rPr sz="1200" dirty="0"/>
              <a:t>Display threshold:</a:t>
            </a:r>
          </a:p>
          <a:p>
            <a:pPr>
              <a:spcAft>
                <a:spcPts val="200"/>
              </a:spcAft>
              <a:defRPr sz="1100">
                <a:solidFill>
                  <a:srgbClr val="232A32"/>
                </a:solidFill>
                <a:latin typeface="Consolas"/>
              </a:defRPr>
            </a:pPr>
            <a:r>
              <a:rPr sz="1200" dirty="0"/>
              <a:t>score &gt;= 30 → candidate is displayed</a:t>
            </a:r>
          </a:p>
          <a:p>
            <a:pPr>
              <a:spcAft>
                <a:spcPts val="200"/>
              </a:spcAft>
              <a:defRPr sz="1100">
                <a:solidFill>
                  <a:srgbClr val="232A32"/>
                </a:solidFill>
                <a:latin typeface="Consolas"/>
              </a:defRPr>
            </a:pPr>
            <a:endParaRPr sz="1200" dirty="0"/>
          </a:p>
          <a:p>
            <a:pPr>
              <a:spcAft>
                <a:spcPts val="200"/>
              </a:spcAft>
              <a:defRPr sz="1100">
                <a:solidFill>
                  <a:srgbClr val="232A32"/>
                </a:solidFill>
                <a:latin typeface="Consolas"/>
              </a:defRPr>
            </a:pPr>
            <a:r>
              <a:rPr sz="1200" dirty="0"/>
              <a:t>Match status:</a:t>
            </a:r>
          </a:p>
          <a:p>
            <a:pPr>
              <a:spcAft>
                <a:spcPts val="200"/>
              </a:spcAft>
              <a:defRPr sz="1100">
                <a:solidFill>
                  <a:srgbClr val="232A32"/>
                </a:solidFill>
                <a:latin typeface="Consolas"/>
              </a:defRPr>
            </a:pPr>
            <a:r>
              <a:rPr sz="1200" dirty="0"/>
              <a:t>80–100 → STRONG MATCH</a:t>
            </a:r>
          </a:p>
          <a:p>
            <a:pPr>
              <a:spcAft>
                <a:spcPts val="200"/>
              </a:spcAft>
              <a:defRPr sz="1100">
                <a:solidFill>
                  <a:srgbClr val="232A32"/>
                </a:solidFill>
                <a:latin typeface="Consolas"/>
              </a:defRPr>
            </a:pPr>
            <a:r>
              <a:rPr sz="1200" dirty="0"/>
              <a:t>50–79  → POSSIBLE MATCH</a:t>
            </a:r>
          </a:p>
          <a:p>
            <a:pPr>
              <a:spcAft>
                <a:spcPts val="200"/>
              </a:spcAft>
              <a:defRPr sz="1100">
                <a:solidFill>
                  <a:srgbClr val="232A32"/>
                </a:solidFill>
                <a:latin typeface="Consolas"/>
              </a:defRPr>
            </a:pPr>
            <a:r>
              <a:rPr sz="1200" dirty="0"/>
              <a:t>30–49  → WEAK MATCH</a:t>
            </a:r>
          </a:p>
          <a:p>
            <a:pPr>
              <a:spcAft>
                <a:spcPts val="200"/>
              </a:spcAft>
              <a:defRPr sz="1100">
                <a:solidFill>
                  <a:srgbClr val="232A32"/>
                </a:solidFill>
                <a:latin typeface="Consolas"/>
              </a:defRPr>
            </a:pPr>
            <a:endParaRPr sz="1200" dirty="0"/>
          </a:p>
          <a:p>
            <a:pPr>
              <a:spcAft>
                <a:spcPts val="200"/>
              </a:spcAft>
              <a:defRPr sz="1100">
                <a:solidFill>
                  <a:srgbClr val="232A32"/>
                </a:solidFill>
                <a:latin typeface="Consolas"/>
              </a:defRPr>
            </a:pPr>
            <a:r>
              <a:rPr sz="1200" dirty="0"/>
              <a:t>Date is NOT a matching parameter.</a:t>
            </a:r>
          </a:p>
        </p:txBody>
      </p:sp>
      <p:pic>
        <p:nvPicPr>
          <p:cNvPr id="7" name="Picture 6">
            <a:extLst>
              <a:ext uri="{FF2B5EF4-FFF2-40B4-BE49-F238E27FC236}">
                <a16:creationId xmlns:a16="http://schemas.microsoft.com/office/drawing/2014/main" id="{C7F29A4A-EB90-0E77-A909-BE78DCF66984}"/>
              </a:ext>
            </a:extLst>
          </p:cNvPr>
          <p:cNvPicPr>
            <a:picLocks noChangeAspect="1"/>
          </p:cNvPicPr>
          <p:nvPr/>
        </p:nvPicPr>
        <p:blipFill>
          <a:blip r:embed="rId2"/>
          <a:stretch>
            <a:fillRect/>
          </a:stretch>
        </p:blipFill>
        <p:spPr>
          <a:xfrm>
            <a:off x="5901032" y="129361"/>
            <a:ext cx="4859706" cy="1867161"/>
          </a:xfrm>
          <a:prstGeom prst="rect">
            <a:avLst/>
          </a:prstGeom>
        </p:spPr>
      </p:pic>
      <p:pic>
        <p:nvPicPr>
          <p:cNvPr id="9" name="Picture 8">
            <a:extLst>
              <a:ext uri="{FF2B5EF4-FFF2-40B4-BE49-F238E27FC236}">
                <a16:creationId xmlns:a16="http://schemas.microsoft.com/office/drawing/2014/main" id="{0E1D8456-D224-6F4E-221F-105496CDD7DF}"/>
              </a:ext>
            </a:extLst>
          </p:cNvPr>
          <p:cNvPicPr>
            <a:picLocks noChangeAspect="1"/>
          </p:cNvPicPr>
          <p:nvPr/>
        </p:nvPicPr>
        <p:blipFill>
          <a:blip r:embed="rId3"/>
          <a:stretch>
            <a:fillRect/>
          </a:stretch>
        </p:blipFill>
        <p:spPr>
          <a:xfrm>
            <a:off x="5901032" y="2058032"/>
            <a:ext cx="4859706" cy="429803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594360"/>
          </a:xfrm>
          <a:prstGeom prst="rect">
            <a:avLst/>
          </a:prstGeom>
          <a:noFill/>
        </p:spPr>
        <p:txBody>
          <a:bodyPr wrap="none">
            <a:spAutoFit/>
          </a:bodyPr>
          <a:lstStyle/>
          <a:p>
            <a:pPr>
              <a:defRPr sz="2500" b="1">
                <a:solidFill>
                  <a:srgbClr val="19273A"/>
                </a:solidFill>
                <a:latin typeface="Aptos Display"/>
              </a:defRPr>
            </a:pPr>
            <a:r>
              <a:t>21. Algorithm &amp; Pseudocode — Resolve Item</a:t>
            </a:r>
          </a:p>
        </p:txBody>
      </p:sp>
      <p:sp>
        <p:nvSpPr>
          <p:cNvPr id="4" name="Rounded Rectangle 3"/>
          <p:cNvSpPr/>
          <p:nvPr/>
        </p:nvSpPr>
        <p:spPr>
          <a:xfrm>
            <a:off x="411480" y="932688"/>
            <a:ext cx="11356848" cy="50292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1014984"/>
            <a:ext cx="10927080" cy="320040"/>
          </a:xfrm>
          <a:prstGeom prst="rect">
            <a:avLst/>
          </a:prstGeom>
          <a:noFill/>
        </p:spPr>
        <p:txBody>
          <a:bodyPr wrap="none">
            <a:spAutoFit/>
          </a:bodyPr>
          <a:lstStyle/>
          <a:p>
            <a:pPr>
              <a:defRPr sz="1080" b="1">
                <a:solidFill>
                  <a:srgbClr val="1E40AF"/>
                </a:solidFill>
              </a:defRPr>
            </a:pPr>
            <a:r>
              <a:t>ALGORITHM: Read ID → locate item with hashSearch() → change status to RESOLVED → save both files.</a:t>
            </a:r>
          </a:p>
        </p:txBody>
      </p:sp>
      <p:sp>
        <p:nvSpPr>
          <p:cNvPr id="6" name="Rounded Rectangle 5"/>
          <p:cNvSpPr/>
          <p:nvPr/>
        </p:nvSpPr>
        <p:spPr>
          <a:xfrm>
            <a:off x="411480" y="1572768"/>
            <a:ext cx="5623560" cy="4736592"/>
          </a:xfrm>
          <a:prstGeom prst="roundRect">
            <a:avLst/>
          </a:prstGeom>
          <a:solidFill>
            <a:srgbClr val="FAFBFD"/>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648" y="1709928"/>
            <a:ext cx="5221224" cy="320040"/>
          </a:xfrm>
          <a:prstGeom prst="rect">
            <a:avLst/>
          </a:prstGeom>
          <a:noFill/>
        </p:spPr>
        <p:txBody>
          <a:bodyPr wrap="none">
            <a:spAutoFit/>
          </a:bodyPr>
          <a:lstStyle/>
          <a:p>
            <a:pPr>
              <a:defRPr sz="1400" b="1">
                <a:solidFill>
                  <a:srgbClr val="2563EB"/>
                </a:solidFill>
              </a:defRPr>
            </a:pPr>
            <a:r>
              <a:t>PSEUDOCODE</a:t>
            </a:r>
          </a:p>
        </p:txBody>
      </p:sp>
      <p:sp>
        <p:nvSpPr>
          <p:cNvPr id="8" name="TextBox 7"/>
          <p:cNvSpPr txBox="1"/>
          <p:nvPr/>
        </p:nvSpPr>
        <p:spPr>
          <a:xfrm>
            <a:off x="612648" y="2075688"/>
            <a:ext cx="5221224" cy="2236510"/>
          </a:xfrm>
          <a:prstGeom prst="rect">
            <a:avLst/>
          </a:prstGeom>
          <a:noFill/>
        </p:spPr>
        <p:txBody>
          <a:bodyPr wrap="square">
            <a:spAutoFit/>
          </a:bodyPr>
          <a:lstStyle/>
          <a:p>
            <a:pPr>
              <a:spcAft>
                <a:spcPts val="200"/>
              </a:spcAft>
              <a:defRPr sz="930">
                <a:solidFill>
                  <a:srgbClr val="232A32"/>
                </a:solidFill>
                <a:latin typeface="Consolas"/>
              </a:defRPr>
            </a:pPr>
            <a:r>
              <a:rPr sz="1400" dirty="0"/>
              <a:t>BEGIN</a:t>
            </a:r>
          </a:p>
          <a:p>
            <a:pPr>
              <a:spcAft>
                <a:spcPts val="200"/>
              </a:spcAft>
              <a:defRPr sz="930">
                <a:solidFill>
                  <a:srgbClr val="232A32"/>
                </a:solidFill>
                <a:latin typeface="Consolas"/>
              </a:defRPr>
            </a:pPr>
            <a:r>
              <a:rPr sz="1400" dirty="0"/>
              <a:t>1. Read the Item ID.</a:t>
            </a:r>
          </a:p>
          <a:p>
            <a:pPr>
              <a:spcAft>
                <a:spcPts val="200"/>
              </a:spcAft>
              <a:defRPr sz="930">
                <a:solidFill>
                  <a:srgbClr val="232A32"/>
                </a:solidFill>
                <a:latin typeface="Consolas"/>
              </a:defRPr>
            </a:pPr>
            <a:r>
              <a:rPr sz="1400" dirty="0"/>
              <a:t>2. Call </a:t>
            </a:r>
            <a:r>
              <a:rPr sz="1400" dirty="0" err="1"/>
              <a:t>hashSearch</a:t>
            </a:r>
            <a:r>
              <a:rPr sz="1400" dirty="0"/>
              <a:t>(ID).</a:t>
            </a:r>
          </a:p>
          <a:p>
            <a:pPr>
              <a:spcAft>
                <a:spcPts val="200"/>
              </a:spcAft>
              <a:defRPr sz="930">
                <a:solidFill>
                  <a:srgbClr val="232A32"/>
                </a:solidFill>
                <a:latin typeface="Consolas"/>
              </a:defRPr>
            </a:pPr>
            <a:r>
              <a:rPr sz="1400" dirty="0"/>
              <a:t>3. If item == NULL, display 'Item not found'.</a:t>
            </a:r>
          </a:p>
          <a:p>
            <a:pPr>
              <a:spcAft>
                <a:spcPts val="200"/>
              </a:spcAft>
              <a:defRPr sz="930">
                <a:solidFill>
                  <a:srgbClr val="232A32"/>
                </a:solidFill>
                <a:latin typeface="Consolas"/>
              </a:defRPr>
            </a:pPr>
            <a:r>
              <a:rPr sz="1400" dirty="0"/>
              <a:t>4. If status == 1, display 'already resolved'.</a:t>
            </a:r>
          </a:p>
          <a:p>
            <a:pPr>
              <a:spcAft>
                <a:spcPts val="200"/>
              </a:spcAft>
              <a:defRPr sz="930">
                <a:solidFill>
                  <a:srgbClr val="232A32"/>
                </a:solidFill>
                <a:latin typeface="Consolas"/>
              </a:defRPr>
            </a:pPr>
            <a:r>
              <a:rPr sz="1400" dirty="0"/>
              <a:t>5. Otherwise set item-&gt;status = 1.</a:t>
            </a:r>
          </a:p>
          <a:p>
            <a:pPr>
              <a:spcAft>
                <a:spcPts val="200"/>
              </a:spcAft>
              <a:defRPr sz="930">
                <a:solidFill>
                  <a:srgbClr val="232A32"/>
                </a:solidFill>
                <a:latin typeface="Consolas"/>
              </a:defRPr>
            </a:pPr>
            <a:r>
              <a:rPr sz="1400" dirty="0"/>
              <a:t>6. Display the resolved message.</a:t>
            </a:r>
          </a:p>
          <a:p>
            <a:pPr>
              <a:spcAft>
                <a:spcPts val="200"/>
              </a:spcAft>
              <a:defRPr sz="930">
                <a:solidFill>
                  <a:srgbClr val="232A32"/>
                </a:solidFill>
                <a:latin typeface="Consolas"/>
              </a:defRPr>
            </a:pPr>
            <a:r>
              <a:rPr sz="1400" dirty="0"/>
              <a:t>7. Save lost_items.txt and found_items.txt.</a:t>
            </a:r>
          </a:p>
          <a:p>
            <a:pPr>
              <a:spcAft>
                <a:spcPts val="200"/>
              </a:spcAft>
              <a:defRPr sz="930">
                <a:solidFill>
                  <a:srgbClr val="232A32"/>
                </a:solidFill>
                <a:latin typeface="Consolas"/>
              </a:defRPr>
            </a:pPr>
            <a:r>
              <a:rPr sz="1400" dirty="0"/>
              <a:t>END</a:t>
            </a:r>
          </a:p>
        </p:txBody>
      </p:sp>
      <p:pic>
        <p:nvPicPr>
          <p:cNvPr id="9" name="Picture 8">
            <a:extLst>
              <a:ext uri="{FF2B5EF4-FFF2-40B4-BE49-F238E27FC236}">
                <a16:creationId xmlns:a16="http://schemas.microsoft.com/office/drawing/2014/main" id="{E17E08EB-D3EB-EE36-6126-1A44B9BE76FD}"/>
              </a:ext>
            </a:extLst>
          </p:cNvPr>
          <p:cNvPicPr>
            <a:picLocks noChangeAspect="1"/>
          </p:cNvPicPr>
          <p:nvPr/>
        </p:nvPicPr>
        <p:blipFill>
          <a:blip r:embed="rId2"/>
          <a:stretch>
            <a:fillRect/>
          </a:stretch>
        </p:blipFill>
        <p:spPr>
          <a:xfrm>
            <a:off x="6095999" y="2242972"/>
            <a:ext cx="5943567" cy="237205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594360"/>
          </a:xfrm>
          <a:prstGeom prst="rect">
            <a:avLst/>
          </a:prstGeom>
          <a:noFill/>
        </p:spPr>
        <p:txBody>
          <a:bodyPr wrap="none">
            <a:spAutoFit/>
          </a:bodyPr>
          <a:lstStyle/>
          <a:p>
            <a:pPr>
              <a:defRPr sz="2500" b="1">
                <a:solidFill>
                  <a:srgbClr val="19273A"/>
                </a:solidFill>
                <a:latin typeface="Aptos Display"/>
              </a:defRPr>
            </a:pPr>
            <a:r>
              <a:t>22. Algorithm &amp; Pseudocode — Statistics</a:t>
            </a:r>
          </a:p>
        </p:txBody>
      </p:sp>
      <p:sp>
        <p:nvSpPr>
          <p:cNvPr id="4" name="Rounded Rectangle 3"/>
          <p:cNvSpPr/>
          <p:nvPr/>
        </p:nvSpPr>
        <p:spPr>
          <a:xfrm>
            <a:off x="417576" y="1294221"/>
            <a:ext cx="11356848" cy="50292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1385661"/>
            <a:ext cx="10927080" cy="320040"/>
          </a:xfrm>
          <a:prstGeom prst="rect">
            <a:avLst/>
          </a:prstGeom>
          <a:noFill/>
        </p:spPr>
        <p:txBody>
          <a:bodyPr wrap="none">
            <a:spAutoFit/>
          </a:bodyPr>
          <a:lstStyle/>
          <a:p>
            <a:pPr>
              <a:defRPr sz="1080" b="1">
                <a:solidFill>
                  <a:srgbClr val="1E40AF"/>
                </a:solidFill>
              </a:defRPr>
            </a:pPr>
            <a:r>
              <a:rPr dirty="0"/>
              <a:t>ALGORITHM: Traverse both linked lists → count total, active and resolved records → display totals.</a:t>
            </a:r>
          </a:p>
        </p:txBody>
      </p:sp>
      <p:sp>
        <p:nvSpPr>
          <p:cNvPr id="6" name="Rounded Rectangle 5"/>
          <p:cNvSpPr/>
          <p:nvPr/>
        </p:nvSpPr>
        <p:spPr>
          <a:xfrm>
            <a:off x="411480" y="2054942"/>
            <a:ext cx="5623560" cy="4254418"/>
          </a:xfrm>
          <a:prstGeom prst="roundRect">
            <a:avLst/>
          </a:prstGeom>
          <a:solidFill>
            <a:srgbClr val="FAFBFD"/>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2480975"/>
            <a:ext cx="5221224" cy="320040"/>
          </a:xfrm>
          <a:prstGeom prst="rect">
            <a:avLst/>
          </a:prstGeom>
          <a:noFill/>
        </p:spPr>
        <p:txBody>
          <a:bodyPr wrap="none">
            <a:spAutoFit/>
          </a:bodyPr>
          <a:lstStyle/>
          <a:p>
            <a:pPr>
              <a:defRPr sz="1400" b="1">
                <a:solidFill>
                  <a:srgbClr val="2563EB"/>
                </a:solidFill>
              </a:defRPr>
            </a:pPr>
            <a:r>
              <a:rPr dirty="0"/>
              <a:t>PSEUDOCODE</a:t>
            </a:r>
          </a:p>
        </p:txBody>
      </p:sp>
      <p:sp>
        <p:nvSpPr>
          <p:cNvPr id="8" name="TextBox 7"/>
          <p:cNvSpPr txBox="1"/>
          <p:nvPr/>
        </p:nvSpPr>
        <p:spPr>
          <a:xfrm>
            <a:off x="859536" y="2782235"/>
            <a:ext cx="5221224" cy="4096511"/>
          </a:xfrm>
          <a:prstGeom prst="rect">
            <a:avLst/>
          </a:prstGeom>
          <a:noFill/>
        </p:spPr>
        <p:txBody>
          <a:bodyPr wrap="square">
            <a:spAutoFit/>
          </a:bodyPr>
          <a:lstStyle/>
          <a:p>
            <a:pPr>
              <a:spcAft>
                <a:spcPts val="200"/>
              </a:spcAft>
              <a:defRPr sz="930">
                <a:solidFill>
                  <a:srgbClr val="232A32"/>
                </a:solidFill>
                <a:latin typeface="Consolas"/>
              </a:defRPr>
            </a:pPr>
            <a:r>
              <a:rPr dirty="0"/>
              <a:t>BEGIN</a:t>
            </a:r>
          </a:p>
          <a:p>
            <a:pPr>
              <a:spcAft>
                <a:spcPts val="200"/>
              </a:spcAft>
              <a:defRPr sz="930">
                <a:solidFill>
                  <a:srgbClr val="232A32"/>
                </a:solidFill>
                <a:latin typeface="Consolas"/>
              </a:defRPr>
            </a:pPr>
            <a:r>
              <a:rPr dirty="0"/>
              <a:t>1. Set all counters to 0.</a:t>
            </a:r>
          </a:p>
          <a:p>
            <a:pPr>
              <a:spcAft>
                <a:spcPts val="200"/>
              </a:spcAft>
              <a:defRPr sz="930">
                <a:solidFill>
                  <a:srgbClr val="232A32"/>
                </a:solidFill>
                <a:latin typeface="Consolas"/>
              </a:defRPr>
            </a:pPr>
            <a:r>
              <a:rPr dirty="0"/>
              <a:t>2. Traverse </a:t>
            </a:r>
            <a:r>
              <a:rPr dirty="0" err="1"/>
              <a:t>lostHead</a:t>
            </a:r>
            <a:r>
              <a:rPr dirty="0"/>
              <a:t>.</a:t>
            </a:r>
          </a:p>
          <a:p>
            <a:pPr>
              <a:spcAft>
                <a:spcPts val="200"/>
              </a:spcAft>
              <a:defRPr sz="930">
                <a:solidFill>
                  <a:srgbClr val="232A32"/>
                </a:solidFill>
                <a:latin typeface="Consolas"/>
              </a:defRPr>
            </a:pPr>
            <a:r>
              <a:rPr dirty="0"/>
              <a:t>   • Increment </a:t>
            </a:r>
            <a:r>
              <a:rPr dirty="0" err="1"/>
              <a:t>lostTotal</a:t>
            </a:r>
            <a:r>
              <a:rPr dirty="0"/>
              <a:t>.</a:t>
            </a:r>
          </a:p>
          <a:p>
            <a:pPr>
              <a:spcAft>
                <a:spcPts val="200"/>
              </a:spcAft>
              <a:defRPr sz="930">
                <a:solidFill>
                  <a:srgbClr val="232A32"/>
                </a:solidFill>
                <a:latin typeface="Consolas"/>
              </a:defRPr>
            </a:pPr>
            <a:r>
              <a:rPr dirty="0"/>
              <a:t>   • If status = 0, increment </a:t>
            </a:r>
            <a:r>
              <a:rPr dirty="0" err="1"/>
              <a:t>lostActive</a:t>
            </a:r>
            <a:r>
              <a:rPr dirty="0"/>
              <a:t>.</a:t>
            </a:r>
          </a:p>
          <a:p>
            <a:pPr>
              <a:spcAft>
                <a:spcPts val="200"/>
              </a:spcAft>
              <a:defRPr sz="930">
                <a:solidFill>
                  <a:srgbClr val="232A32"/>
                </a:solidFill>
                <a:latin typeface="Consolas"/>
              </a:defRPr>
            </a:pPr>
            <a:r>
              <a:rPr dirty="0"/>
              <a:t>   • Else increment </a:t>
            </a:r>
            <a:r>
              <a:rPr dirty="0" err="1"/>
              <a:t>lostResolved</a:t>
            </a:r>
            <a:r>
              <a:rPr dirty="0"/>
              <a:t>.</a:t>
            </a:r>
          </a:p>
          <a:p>
            <a:pPr>
              <a:spcAft>
                <a:spcPts val="200"/>
              </a:spcAft>
              <a:defRPr sz="930">
                <a:solidFill>
                  <a:srgbClr val="232A32"/>
                </a:solidFill>
                <a:latin typeface="Consolas"/>
              </a:defRPr>
            </a:pPr>
            <a:r>
              <a:rPr dirty="0"/>
              <a:t>3. Traverse </a:t>
            </a:r>
            <a:r>
              <a:rPr dirty="0" err="1"/>
              <a:t>foundHead</a:t>
            </a:r>
            <a:r>
              <a:rPr dirty="0"/>
              <a:t>.</a:t>
            </a:r>
          </a:p>
          <a:p>
            <a:pPr>
              <a:spcAft>
                <a:spcPts val="200"/>
              </a:spcAft>
              <a:defRPr sz="930">
                <a:solidFill>
                  <a:srgbClr val="232A32"/>
                </a:solidFill>
                <a:latin typeface="Consolas"/>
              </a:defRPr>
            </a:pPr>
            <a:r>
              <a:rPr dirty="0"/>
              <a:t>   • Increment </a:t>
            </a:r>
            <a:r>
              <a:rPr dirty="0" err="1"/>
              <a:t>foundTotal</a:t>
            </a:r>
            <a:r>
              <a:rPr dirty="0"/>
              <a:t>.</a:t>
            </a:r>
          </a:p>
          <a:p>
            <a:pPr>
              <a:spcAft>
                <a:spcPts val="200"/>
              </a:spcAft>
              <a:defRPr sz="930">
                <a:solidFill>
                  <a:srgbClr val="232A32"/>
                </a:solidFill>
                <a:latin typeface="Consolas"/>
              </a:defRPr>
            </a:pPr>
            <a:r>
              <a:rPr dirty="0"/>
              <a:t>   • If status = 0, increment </a:t>
            </a:r>
            <a:r>
              <a:rPr dirty="0" err="1"/>
              <a:t>foundActive</a:t>
            </a:r>
            <a:r>
              <a:rPr dirty="0"/>
              <a:t>.</a:t>
            </a:r>
          </a:p>
          <a:p>
            <a:pPr>
              <a:spcAft>
                <a:spcPts val="200"/>
              </a:spcAft>
              <a:defRPr sz="930">
                <a:solidFill>
                  <a:srgbClr val="232A32"/>
                </a:solidFill>
                <a:latin typeface="Consolas"/>
              </a:defRPr>
            </a:pPr>
            <a:r>
              <a:rPr dirty="0"/>
              <a:t>   • Else increment </a:t>
            </a:r>
            <a:r>
              <a:rPr dirty="0" err="1"/>
              <a:t>foundResolved</a:t>
            </a:r>
            <a:r>
              <a:rPr dirty="0"/>
              <a:t>.</a:t>
            </a:r>
          </a:p>
          <a:p>
            <a:pPr>
              <a:spcAft>
                <a:spcPts val="200"/>
              </a:spcAft>
              <a:defRPr sz="930">
                <a:solidFill>
                  <a:srgbClr val="232A32"/>
                </a:solidFill>
                <a:latin typeface="Consolas"/>
              </a:defRPr>
            </a:pPr>
            <a:r>
              <a:rPr dirty="0"/>
              <a:t>4. Display Lost, Found and Overall totals.</a:t>
            </a:r>
          </a:p>
          <a:p>
            <a:pPr>
              <a:spcAft>
                <a:spcPts val="200"/>
              </a:spcAft>
              <a:defRPr sz="930">
                <a:solidFill>
                  <a:srgbClr val="232A32"/>
                </a:solidFill>
                <a:latin typeface="Consolas"/>
              </a:defRPr>
            </a:pPr>
            <a:r>
              <a:rPr dirty="0"/>
              <a:t>END</a:t>
            </a:r>
          </a:p>
        </p:txBody>
      </p:sp>
      <p:pic>
        <p:nvPicPr>
          <p:cNvPr id="9" name="Picture 8">
            <a:extLst>
              <a:ext uri="{FF2B5EF4-FFF2-40B4-BE49-F238E27FC236}">
                <a16:creationId xmlns:a16="http://schemas.microsoft.com/office/drawing/2014/main" id="{3CADC364-9544-8C55-C8E9-6E75CF35D1E8}"/>
              </a:ext>
            </a:extLst>
          </p:cNvPr>
          <p:cNvPicPr>
            <a:picLocks noChangeAspect="1"/>
          </p:cNvPicPr>
          <p:nvPr/>
        </p:nvPicPr>
        <p:blipFill>
          <a:blip r:embed="rId2"/>
          <a:stretch>
            <a:fillRect/>
          </a:stretch>
        </p:blipFill>
        <p:spPr>
          <a:xfrm>
            <a:off x="6287258" y="2017510"/>
            <a:ext cx="5487166" cy="463932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38912" y="98298"/>
            <a:ext cx="11338560" cy="594360"/>
          </a:xfrm>
          <a:prstGeom prst="rect">
            <a:avLst/>
          </a:prstGeom>
          <a:noFill/>
        </p:spPr>
        <p:txBody>
          <a:bodyPr wrap="none">
            <a:spAutoFit/>
          </a:bodyPr>
          <a:lstStyle/>
          <a:p>
            <a:pPr>
              <a:defRPr sz="2500" b="1">
                <a:solidFill>
                  <a:srgbClr val="19273A"/>
                </a:solidFill>
                <a:latin typeface="Aptos Display"/>
              </a:defRPr>
            </a:pPr>
            <a:r>
              <a:t>23. Algorithm &amp; Pseudocode — File Handling</a:t>
            </a:r>
          </a:p>
        </p:txBody>
      </p:sp>
      <p:sp>
        <p:nvSpPr>
          <p:cNvPr id="4" name="Rounded Rectangle 3"/>
          <p:cNvSpPr/>
          <p:nvPr/>
        </p:nvSpPr>
        <p:spPr>
          <a:xfrm>
            <a:off x="411480" y="932688"/>
            <a:ext cx="11356848" cy="50292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1014984"/>
            <a:ext cx="10927080" cy="320040"/>
          </a:xfrm>
          <a:prstGeom prst="rect">
            <a:avLst/>
          </a:prstGeom>
          <a:noFill/>
        </p:spPr>
        <p:txBody>
          <a:bodyPr wrap="none">
            <a:spAutoFit/>
          </a:bodyPr>
          <a:lstStyle/>
          <a:p>
            <a:pPr>
              <a:defRPr sz="1080" b="1">
                <a:solidFill>
                  <a:srgbClr val="1E40AF"/>
                </a:solidFill>
              </a:defRPr>
            </a:pPr>
            <a:r>
              <a:t>ALGORITHM: Save by traversing a list and writing records; load by reading records and rebuilding lists + hash table.</a:t>
            </a:r>
          </a:p>
        </p:txBody>
      </p:sp>
      <p:sp>
        <p:nvSpPr>
          <p:cNvPr id="6" name="Rounded Rectangle 5"/>
          <p:cNvSpPr/>
          <p:nvPr/>
        </p:nvSpPr>
        <p:spPr>
          <a:xfrm>
            <a:off x="411480" y="1572768"/>
            <a:ext cx="4239178" cy="4736592"/>
          </a:xfrm>
          <a:prstGeom prst="roundRect">
            <a:avLst/>
          </a:prstGeom>
          <a:solidFill>
            <a:srgbClr val="FAFBFD"/>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648" y="1869948"/>
            <a:ext cx="5221224" cy="320040"/>
          </a:xfrm>
          <a:prstGeom prst="rect">
            <a:avLst/>
          </a:prstGeom>
          <a:noFill/>
        </p:spPr>
        <p:txBody>
          <a:bodyPr wrap="none">
            <a:spAutoFit/>
          </a:bodyPr>
          <a:lstStyle/>
          <a:p>
            <a:pPr>
              <a:defRPr sz="1400" b="1">
                <a:solidFill>
                  <a:srgbClr val="2563EB"/>
                </a:solidFill>
              </a:defRPr>
            </a:pPr>
            <a:r>
              <a:rPr dirty="0"/>
              <a:t>PSEUDOCODE</a:t>
            </a:r>
          </a:p>
        </p:txBody>
      </p:sp>
      <p:sp>
        <p:nvSpPr>
          <p:cNvPr id="8" name="TextBox 7"/>
          <p:cNvSpPr txBox="1"/>
          <p:nvPr/>
        </p:nvSpPr>
        <p:spPr>
          <a:xfrm>
            <a:off x="612648" y="2304289"/>
            <a:ext cx="4038010" cy="3616375"/>
          </a:xfrm>
          <a:prstGeom prst="rect">
            <a:avLst/>
          </a:prstGeom>
          <a:noFill/>
        </p:spPr>
        <p:txBody>
          <a:bodyPr wrap="square">
            <a:spAutoFit/>
          </a:bodyPr>
          <a:lstStyle/>
          <a:p>
            <a:pPr>
              <a:spcAft>
                <a:spcPts val="200"/>
              </a:spcAft>
              <a:defRPr sz="930">
                <a:solidFill>
                  <a:srgbClr val="232A32"/>
                </a:solidFill>
                <a:latin typeface="Consolas"/>
              </a:defRPr>
            </a:pPr>
            <a:r>
              <a:rPr sz="1200" dirty="0"/>
              <a:t>SAVE</a:t>
            </a:r>
          </a:p>
          <a:p>
            <a:pPr>
              <a:spcAft>
                <a:spcPts val="200"/>
              </a:spcAft>
              <a:defRPr sz="930">
                <a:solidFill>
                  <a:srgbClr val="232A32"/>
                </a:solidFill>
                <a:latin typeface="Consolas"/>
              </a:defRPr>
            </a:pPr>
            <a:r>
              <a:rPr sz="1200" dirty="0"/>
              <a:t>1. Open file using </a:t>
            </a:r>
            <a:r>
              <a:rPr sz="1200" dirty="0" err="1"/>
              <a:t>fopen</a:t>
            </a:r>
            <a:r>
              <a:rPr sz="1200" dirty="0"/>
              <a:t>(filename, "w").</a:t>
            </a:r>
          </a:p>
          <a:p>
            <a:pPr>
              <a:spcAft>
                <a:spcPts val="200"/>
              </a:spcAft>
              <a:defRPr sz="930">
                <a:solidFill>
                  <a:srgbClr val="232A32"/>
                </a:solidFill>
                <a:latin typeface="Consolas"/>
              </a:defRPr>
            </a:pPr>
            <a:r>
              <a:rPr sz="1200" dirty="0"/>
              <a:t>2. Traverse the linked list.</a:t>
            </a:r>
          </a:p>
          <a:p>
            <a:pPr>
              <a:spcAft>
                <a:spcPts val="200"/>
              </a:spcAft>
              <a:defRPr sz="930">
                <a:solidFill>
                  <a:srgbClr val="232A32"/>
                </a:solidFill>
                <a:latin typeface="Consolas"/>
              </a:defRPr>
            </a:pPr>
            <a:r>
              <a:rPr sz="1200" dirty="0"/>
              <a:t>3. Write each record as:</a:t>
            </a:r>
          </a:p>
          <a:p>
            <a:pPr>
              <a:spcAft>
                <a:spcPts val="200"/>
              </a:spcAft>
              <a:defRPr sz="930">
                <a:solidFill>
                  <a:srgbClr val="232A32"/>
                </a:solidFill>
                <a:latin typeface="Consolas"/>
              </a:defRPr>
            </a:pPr>
            <a:r>
              <a:rPr sz="1200" dirty="0"/>
              <a:t>   </a:t>
            </a:r>
            <a:r>
              <a:rPr sz="1200" dirty="0" err="1"/>
              <a:t>ID|Name|Category|Color|Location|Date|Status</a:t>
            </a:r>
            <a:endParaRPr sz="1200" dirty="0"/>
          </a:p>
          <a:p>
            <a:pPr>
              <a:spcAft>
                <a:spcPts val="200"/>
              </a:spcAft>
              <a:defRPr sz="930">
                <a:solidFill>
                  <a:srgbClr val="232A32"/>
                </a:solidFill>
                <a:latin typeface="Consolas"/>
              </a:defRPr>
            </a:pPr>
            <a:r>
              <a:rPr sz="1200" dirty="0"/>
              <a:t>4. Close the file.</a:t>
            </a:r>
          </a:p>
          <a:p>
            <a:pPr>
              <a:spcAft>
                <a:spcPts val="200"/>
              </a:spcAft>
              <a:defRPr sz="930">
                <a:solidFill>
                  <a:srgbClr val="232A32"/>
                </a:solidFill>
                <a:latin typeface="Consolas"/>
              </a:defRPr>
            </a:pPr>
            <a:endParaRPr sz="1200" dirty="0"/>
          </a:p>
          <a:p>
            <a:pPr>
              <a:spcAft>
                <a:spcPts val="200"/>
              </a:spcAft>
              <a:defRPr sz="930">
                <a:solidFill>
                  <a:srgbClr val="232A32"/>
                </a:solidFill>
                <a:latin typeface="Consolas"/>
              </a:defRPr>
            </a:pPr>
            <a:r>
              <a:rPr sz="1200" dirty="0"/>
              <a:t>LOAD</a:t>
            </a:r>
          </a:p>
          <a:p>
            <a:pPr>
              <a:spcAft>
                <a:spcPts val="200"/>
              </a:spcAft>
              <a:defRPr sz="930">
                <a:solidFill>
                  <a:srgbClr val="232A32"/>
                </a:solidFill>
                <a:latin typeface="Consolas"/>
              </a:defRPr>
            </a:pPr>
            <a:r>
              <a:rPr sz="1200" dirty="0"/>
              <a:t>1. Open file using </a:t>
            </a:r>
            <a:r>
              <a:rPr sz="1200" dirty="0" err="1"/>
              <a:t>fopen</a:t>
            </a:r>
            <a:r>
              <a:rPr sz="1200" dirty="0"/>
              <a:t>(filename, "r").</a:t>
            </a:r>
          </a:p>
          <a:p>
            <a:pPr>
              <a:spcAft>
                <a:spcPts val="200"/>
              </a:spcAft>
              <a:defRPr sz="930">
                <a:solidFill>
                  <a:srgbClr val="232A32"/>
                </a:solidFill>
                <a:latin typeface="Consolas"/>
              </a:defRPr>
            </a:pPr>
            <a:r>
              <a:rPr sz="1200" dirty="0"/>
              <a:t>2. Read all 7 fields using </a:t>
            </a:r>
            <a:r>
              <a:rPr sz="1200" dirty="0" err="1"/>
              <a:t>fscanf</a:t>
            </a:r>
            <a:r>
              <a:rPr sz="1200" dirty="0"/>
              <a:t>().</a:t>
            </a:r>
          </a:p>
          <a:p>
            <a:pPr>
              <a:spcAft>
                <a:spcPts val="200"/>
              </a:spcAft>
              <a:defRPr sz="930">
                <a:solidFill>
                  <a:srgbClr val="232A32"/>
                </a:solidFill>
                <a:latin typeface="Consolas"/>
              </a:defRPr>
            </a:pPr>
            <a:r>
              <a:rPr sz="1200" dirty="0"/>
              <a:t>3. Allocate a new Item.</a:t>
            </a:r>
          </a:p>
          <a:p>
            <a:pPr>
              <a:spcAft>
                <a:spcPts val="200"/>
              </a:spcAft>
              <a:defRPr sz="930">
                <a:solidFill>
                  <a:srgbClr val="232A32"/>
                </a:solidFill>
                <a:latin typeface="Consolas"/>
              </a:defRPr>
            </a:pPr>
            <a:r>
              <a:rPr sz="1200" dirty="0"/>
              <a:t>4. Copy the loaded fields into the Item.</a:t>
            </a:r>
          </a:p>
          <a:p>
            <a:pPr>
              <a:spcAft>
                <a:spcPts val="200"/>
              </a:spcAft>
              <a:defRPr sz="930">
                <a:solidFill>
                  <a:srgbClr val="232A32"/>
                </a:solidFill>
                <a:latin typeface="Consolas"/>
              </a:defRPr>
            </a:pPr>
            <a:r>
              <a:rPr sz="1200" dirty="0"/>
              <a:t>5. Insert into Lost/Found linked list.</a:t>
            </a:r>
          </a:p>
          <a:p>
            <a:pPr>
              <a:spcAft>
                <a:spcPts val="200"/>
              </a:spcAft>
              <a:defRPr sz="930">
                <a:solidFill>
                  <a:srgbClr val="232A32"/>
                </a:solidFill>
                <a:latin typeface="Consolas"/>
              </a:defRPr>
            </a:pPr>
            <a:r>
              <a:rPr sz="1200" dirty="0"/>
              <a:t>6. Insert the same Item into the hash table.</a:t>
            </a:r>
          </a:p>
          <a:p>
            <a:pPr>
              <a:spcAft>
                <a:spcPts val="200"/>
              </a:spcAft>
              <a:defRPr sz="930">
                <a:solidFill>
                  <a:srgbClr val="232A32"/>
                </a:solidFill>
                <a:latin typeface="Consolas"/>
              </a:defRPr>
            </a:pPr>
            <a:r>
              <a:rPr sz="1200" dirty="0"/>
              <a:t>7. Update the next ID counters.</a:t>
            </a:r>
          </a:p>
          <a:p>
            <a:pPr>
              <a:spcAft>
                <a:spcPts val="200"/>
              </a:spcAft>
              <a:defRPr sz="930">
                <a:solidFill>
                  <a:srgbClr val="232A32"/>
                </a:solidFill>
                <a:latin typeface="Consolas"/>
              </a:defRPr>
            </a:pPr>
            <a:r>
              <a:rPr sz="1200" dirty="0"/>
              <a:t>8. Close the file.</a:t>
            </a:r>
          </a:p>
        </p:txBody>
      </p:sp>
      <p:pic>
        <p:nvPicPr>
          <p:cNvPr id="9" name="Picture 8">
            <a:extLst>
              <a:ext uri="{FF2B5EF4-FFF2-40B4-BE49-F238E27FC236}">
                <a16:creationId xmlns:a16="http://schemas.microsoft.com/office/drawing/2014/main" id="{E732D182-72D9-0125-B875-9E2D777C6F23}"/>
              </a:ext>
            </a:extLst>
          </p:cNvPr>
          <p:cNvPicPr>
            <a:picLocks noChangeAspect="1"/>
          </p:cNvPicPr>
          <p:nvPr/>
        </p:nvPicPr>
        <p:blipFill>
          <a:blip r:embed="rId2"/>
          <a:stretch>
            <a:fillRect/>
          </a:stretch>
        </p:blipFill>
        <p:spPr>
          <a:xfrm>
            <a:off x="4851830" y="1675638"/>
            <a:ext cx="6925642" cy="224821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594360"/>
          </a:xfrm>
          <a:prstGeom prst="rect">
            <a:avLst/>
          </a:prstGeom>
          <a:noFill/>
        </p:spPr>
        <p:txBody>
          <a:bodyPr wrap="none">
            <a:spAutoFit/>
          </a:bodyPr>
          <a:lstStyle/>
          <a:p>
            <a:pPr>
              <a:defRPr sz="2500" b="1">
                <a:solidFill>
                  <a:srgbClr val="19273A"/>
                </a:solidFill>
                <a:latin typeface="Aptos Display"/>
              </a:defRPr>
            </a:pPr>
            <a:r>
              <a:t>24. Complete Program Algorithm &amp; Flow</a:t>
            </a:r>
          </a:p>
        </p:txBody>
      </p:sp>
      <p:sp>
        <p:nvSpPr>
          <p:cNvPr id="4" name="Rounded Rectangle 3"/>
          <p:cNvSpPr/>
          <p:nvPr/>
        </p:nvSpPr>
        <p:spPr>
          <a:xfrm>
            <a:off x="2948203" y="698090"/>
            <a:ext cx="5623560" cy="5684422"/>
          </a:xfrm>
          <a:prstGeom prst="roundRect">
            <a:avLst/>
          </a:prstGeom>
          <a:solidFill>
            <a:srgbClr val="FAFBFD"/>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729031" y="930782"/>
            <a:ext cx="5738991" cy="5134739"/>
          </a:xfrm>
          <a:prstGeom prst="rect">
            <a:avLst/>
          </a:prstGeom>
          <a:noFill/>
        </p:spPr>
        <p:txBody>
          <a:bodyPr wrap="square">
            <a:spAutoFit/>
          </a:bodyPr>
          <a:lstStyle/>
          <a:p>
            <a:pPr>
              <a:spcAft>
                <a:spcPts val="200"/>
              </a:spcAft>
              <a:defRPr sz="969">
                <a:solidFill>
                  <a:srgbClr val="232A32"/>
                </a:solidFill>
                <a:latin typeface="Consolas"/>
              </a:defRPr>
            </a:pPr>
            <a:r>
              <a:rPr sz="1100" dirty="0"/>
              <a:t>START</a:t>
            </a:r>
          </a:p>
          <a:p>
            <a:pPr>
              <a:spcAft>
                <a:spcPts val="200"/>
              </a:spcAft>
              <a:defRPr sz="969">
                <a:solidFill>
                  <a:srgbClr val="232A32"/>
                </a:solidFill>
                <a:latin typeface="Consolas"/>
              </a:defRPr>
            </a:pPr>
            <a:r>
              <a:rPr sz="1100" dirty="0"/>
              <a:t>↓</a:t>
            </a:r>
          </a:p>
          <a:p>
            <a:pPr>
              <a:spcAft>
                <a:spcPts val="200"/>
              </a:spcAft>
              <a:defRPr sz="969">
                <a:solidFill>
                  <a:srgbClr val="232A32"/>
                </a:solidFill>
                <a:latin typeface="Consolas"/>
              </a:defRPr>
            </a:pPr>
            <a:r>
              <a:rPr sz="1100" dirty="0"/>
              <a:t>Initialize all </a:t>
            </a:r>
            <a:r>
              <a:rPr sz="1100" dirty="0" err="1"/>
              <a:t>hashTable</a:t>
            </a:r>
            <a:r>
              <a:rPr sz="1100" dirty="0"/>
              <a:t> buckets to NULL</a:t>
            </a:r>
          </a:p>
          <a:p>
            <a:pPr>
              <a:spcAft>
                <a:spcPts val="200"/>
              </a:spcAft>
              <a:defRPr sz="969">
                <a:solidFill>
                  <a:srgbClr val="232A32"/>
                </a:solidFill>
                <a:latin typeface="Consolas"/>
              </a:defRPr>
            </a:pPr>
            <a:r>
              <a:rPr sz="1100" dirty="0"/>
              <a:t>↓</a:t>
            </a:r>
          </a:p>
          <a:p>
            <a:pPr>
              <a:spcAft>
                <a:spcPts val="200"/>
              </a:spcAft>
              <a:defRPr sz="969">
                <a:solidFill>
                  <a:srgbClr val="232A32"/>
                </a:solidFill>
                <a:latin typeface="Consolas"/>
              </a:defRPr>
            </a:pPr>
            <a:r>
              <a:rPr sz="1100" dirty="0" err="1"/>
              <a:t>loadFromFile</a:t>
            </a:r>
            <a:r>
              <a:rPr sz="1100" dirty="0"/>
              <a:t>(LOST_FILE, 0)</a:t>
            </a:r>
          </a:p>
          <a:p>
            <a:pPr>
              <a:spcAft>
                <a:spcPts val="200"/>
              </a:spcAft>
              <a:defRPr sz="969">
                <a:solidFill>
                  <a:srgbClr val="232A32"/>
                </a:solidFill>
                <a:latin typeface="Consolas"/>
              </a:defRPr>
            </a:pPr>
            <a:r>
              <a:rPr sz="1100" dirty="0" err="1"/>
              <a:t>loadFromFile</a:t>
            </a:r>
            <a:r>
              <a:rPr sz="1100" dirty="0"/>
              <a:t>(FOUND_FILE, 1)</a:t>
            </a:r>
          </a:p>
          <a:p>
            <a:pPr>
              <a:spcAft>
                <a:spcPts val="200"/>
              </a:spcAft>
              <a:defRPr sz="969">
                <a:solidFill>
                  <a:srgbClr val="232A32"/>
                </a:solidFill>
                <a:latin typeface="Consolas"/>
              </a:defRPr>
            </a:pPr>
            <a:r>
              <a:rPr sz="1100" dirty="0"/>
              <a:t>↓</a:t>
            </a:r>
          </a:p>
          <a:p>
            <a:pPr>
              <a:spcAft>
                <a:spcPts val="200"/>
              </a:spcAft>
              <a:defRPr sz="969">
                <a:solidFill>
                  <a:srgbClr val="232A32"/>
                </a:solidFill>
                <a:latin typeface="Consolas"/>
              </a:defRPr>
            </a:pPr>
            <a:r>
              <a:rPr sz="1100" dirty="0"/>
              <a:t>Display main menu</a:t>
            </a:r>
          </a:p>
          <a:p>
            <a:pPr>
              <a:spcAft>
                <a:spcPts val="200"/>
              </a:spcAft>
              <a:defRPr sz="969">
                <a:solidFill>
                  <a:srgbClr val="232A32"/>
                </a:solidFill>
                <a:latin typeface="Consolas"/>
              </a:defRPr>
            </a:pPr>
            <a:r>
              <a:rPr sz="1100" dirty="0"/>
              <a:t>↓</a:t>
            </a:r>
          </a:p>
          <a:p>
            <a:pPr>
              <a:spcAft>
                <a:spcPts val="200"/>
              </a:spcAft>
              <a:defRPr sz="969">
                <a:solidFill>
                  <a:srgbClr val="232A32"/>
                </a:solidFill>
                <a:latin typeface="Consolas"/>
              </a:defRPr>
            </a:pPr>
            <a:r>
              <a:rPr sz="1100" dirty="0"/>
              <a:t>Read choice</a:t>
            </a:r>
          </a:p>
          <a:p>
            <a:pPr>
              <a:spcAft>
                <a:spcPts val="200"/>
              </a:spcAft>
              <a:defRPr sz="969">
                <a:solidFill>
                  <a:srgbClr val="232A32"/>
                </a:solidFill>
                <a:latin typeface="Consolas"/>
              </a:defRPr>
            </a:pPr>
            <a:r>
              <a:rPr sz="1100" dirty="0"/>
              <a:t>↓</a:t>
            </a:r>
          </a:p>
          <a:p>
            <a:pPr>
              <a:spcAft>
                <a:spcPts val="200"/>
              </a:spcAft>
              <a:defRPr sz="969">
                <a:solidFill>
                  <a:srgbClr val="232A32"/>
                </a:solidFill>
                <a:latin typeface="Consolas"/>
              </a:defRPr>
            </a:pPr>
            <a:r>
              <a:rPr sz="1100" dirty="0"/>
              <a:t>1 → Report Lost → Save</a:t>
            </a:r>
          </a:p>
          <a:p>
            <a:pPr>
              <a:spcAft>
                <a:spcPts val="200"/>
              </a:spcAft>
              <a:defRPr sz="969">
                <a:solidFill>
                  <a:srgbClr val="232A32"/>
                </a:solidFill>
                <a:latin typeface="Consolas"/>
              </a:defRPr>
            </a:pPr>
            <a:r>
              <a:rPr sz="1100" dirty="0"/>
              <a:t>2 → Report Found → Save</a:t>
            </a:r>
          </a:p>
          <a:p>
            <a:pPr>
              <a:spcAft>
                <a:spcPts val="200"/>
              </a:spcAft>
              <a:defRPr sz="969">
                <a:solidFill>
                  <a:srgbClr val="232A32"/>
                </a:solidFill>
                <a:latin typeface="Consolas"/>
              </a:defRPr>
            </a:pPr>
            <a:r>
              <a:rPr sz="1100" dirty="0"/>
              <a:t>3 → View Lost</a:t>
            </a:r>
          </a:p>
          <a:p>
            <a:pPr>
              <a:spcAft>
                <a:spcPts val="200"/>
              </a:spcAft>
              <a:defRPr sz="969">
                <a:solidFill>
                  <a:srgbClr val="232A32"/>
                </a:solidFill>
                <a:latin typeface="Consolas"/>
              </a:defRPr>
            </a:pPr>
            <a:r>
              <a:rPr sz="1100" dirty="0"/>
              <a:t>4 → View Found</a:t>
            </a:r>
          </a:p>
          <a:p>
            <a:pPr>
              <a:spcAft>
                <a:spcPts val="200"/>
              </a:spcAft>
              <a:defRPr sz="969">
                <a:solidFill>
                  <a:srgbClr val="232A32"/>
                </a:solidFill>
                <a:latin typeface="Consolas"/>
              </a:defRPr>
            </a:pPr>
            <a:r>
              <a:rPr sz="1100" dirty="0"/>
              <a:t>5 → Search Item</a:t>
            </a:r>
          </a:p>
          <a:p>
            <a:pPr>
              <a:spcAft>
                <a:spcPts val="200"/>
              </a:spcAft>
              <a:defRPr sz="969">
                <a:solidFill>
                  <a:srgbClr val="232A32"/>
                </a:solidFill>
                <a:latin typeface="Consolas"/>
              </a:defRPr>
            </a:pPr>
            <a:r>
              <a:rPr sz="1100" dirty="0"/>
              <a:t>6 → Find Possible Match</a:t>
            </a:r>
          </a:p>
          <a:p>
            <a:pPr>
              <a:spcAft>
                <a:spcPts val="200"/>
              </a:spcAft>
              <a:defRPr sz="969">
                <a:solidFill>
                  <a:srgbClr val="232A32"/>
                </a:solidFill>
                <a:latin typeface="Consolas"/>
              </a:defRPr>
            </a:pPr>
            <a:r>
              <a:rPr sz="1100" dirty="0"/>
              <a:t>7 → Resolve Item → Save</a:t>
            </a:r>
          </a:p>
          <a:p>
            <a:pPr>
              <a:spcAft>
                <a:spcPts val="200"/>
              </a:spcAft>
              <a:defRPr sz="969">
                <a:solidFill>
                  <a:srgbClr val="232A32"/>
                </a:solidFill>
                <a:latin typeface="Consolas"/>
              </a:defRPr>
            </a:pPr>
            <a:r>
              <a:rPr sz="1100" dirty="0"/>
              <a:t>8 → View Statistics</a:t>
            </a:r>
          </a:p>
          <a:p>
            <a:pPr>
              <a:spcAft>
                <a:spcPts val="200"/>
              </a:spcAft>
              <a:defRPr sz="969">
                <a:solidFill>
                  <a:srgbClr val="232A32"/>
                </a:solidFill>
                <a:latin typeface="Consolas"/>
              </a:defRPr>
            </a:pPr>
            <a:r>
              <a:rPr sz="1100" dirty="0"/>
              <a:t>0 → Save → Exit</a:t>
            </a:r>
          </a:p>
          <a:p>
            <a:pPr>
              <a:spcAft>
                <a:spcPts val="200"/>
              </a:spcAft>
              <a:defRPr sz="969">
                <a:solidFill>
                  <a:srgbClr val="232A32"/>
                </a:solidFill>
                <a:latin typeface="Consolas"/>
              </a:defRPr>
            </a:pPr>
            <a:r>
              <a:rPr sz="1100" dirty="0"/>
              <a:t>↓</a:t>
            </a:r>
          </a:p>
          <a:p>
            <a:pPr>
              <a:spcAft>
                <a:spcPts val="200"/>
              </a:spcAft>
              <a:defRPr sz="969">
                <a:solidFill>
                  <a:srgbClr val="232A32"/>
                </a:solidFill>
                <a:latin typeface="Consolas"/>
              </a:defRPr>
            </a:pPr>
            <a:r>
              <a:rPr sz="1100" dirty="0"/>
              <a:t>If choice != 0, repeat menu</a:t>
            </a:r>
          </a:p>
          <a:p>
            <a:pPr>
              <a:spcAft>
                <a:spcPts val="200"/>
              </a:spcAft>
              <a:defRPr sz="969">
                <a:solidFill>
                  <a:srgbClr val="232A32"/>
                </a:solidFill>
                <a:latin typeface="Consolas"/>
              </a:defRPr>
            </a:pPr>
            <a:r>
              <a:rPr sz="1100" dirty="0"/>
              <a:t>↓</a:t>
            </a:r>
          </a:p>
          <a:p>
            <a:pPr>
              <a:spcAft>
                <a:spcPts val="200"/>
              </a:spcAft>
              <a:defRPr sz="969">
                <a:solidFill>
                  <a:srgbClr val="232A32"/>
                </a:solidFill>
                <a:latin typeface="Consolas"/>
              </a:defRPr>
            </a:pPr>
            <a:r>
              <a:rPr sz="1100" dirty="0"/>
              <a:t>Free lost list, found list and hash table</a:t>
            </a:r>
          </a:p>
          <a:p>
            <a:pPr>
              <a:spcAft>
                <a:spcPts val="200"/>
              </a:spcAft>
              <a:defRPr sz="969">
                <a:solidFill>
                  <a:srgbClr val="232A32"/>
                </a:solidFill>
                <a:latin typeface="Consolas"/>
              </a:defRPr>
            </a:pPr>
            <a:r>
              <a:rPr sz="1100" dirty="0"/>
              <a:t>↓</a:t>
            </a:r>
          </a:p>
          <a:p>
            <a:pPr>
              <a:spcAft>
                <a:spcPts val="200"/>
              </a:spcAft>
              <a:defRPr sz="969">
                <a:solidFill>
                  <a:srgbClr val="232A32"/>
                </a:solidFill>
                <a:latin typeface="Consolas"/>
              </a:defRPr>
            </a:pPr>
            <a:r>
              <a:rPr sz="1100" dirty="0"/>
              <a:t>STOP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28600"/>
            <a:ext cx="11155680" cy="548640"/>
          </a:xfrm>
          <a:prstGeom prst="rect">
            <a:avLst/>
          </a:prstGeom>
          <a:noFill/>
        </p:spPr>
        <p:txBody>
          <a:bodyPr wrap="none">
            <a:spAutoFit/>
          </a:bodyPr>
          <a:lstStyle/>
          <a:p>
            <a:pPr>
              <a:defRPr sz="2700" b="1">
                <a:solidFill>
                  <a:srgbClr val="19273A"/>
                </a:solidFill>
                <a:latin typeface="Aptos Display"/>
              </a:defRPr>
            </a:pPr>
            <a:r>
              <a:t>Time Complexity Analysis</a:t>
            </a:r>
          </a:p>
        </p:txBody>
      </p:sp>
      <p:sp>
        <p:nvSpPr>
          <p:cNvPr id="3" name="TextBox 2"/>
          <p:cNvSpPr txBox="1"/>
          <p:nvPr/>
        </p:nvSpPr>
        <p:spPr>
          <a:xfrm>
            <a:off x="484632" y="749808"/>
            <a:ext cx="10972800" cy="320040"/>
          </a:xfrm>
          <a:prstGeom prst="rect">
            <a:avLst/>
          </a:prstGeom>
          <a:noFill/>
        </p:spPr>
        <p:txBody>
          <a:bodyPr wrap="none">
            <a:spAutoFit/>
          </a:bodyPr>
          <a:lstStyle/>
          <a:p>
            <a:pPr>
              <a:defRPr sz="1100">
                <a:solidFill>
                  <a:srgbClr val="5A6473"/>
                </a:solidFill>
              </a:defRPr>
            </a:pPr>
            <a:r>
              <a:t>Complexity of the actual operations implemented in the current C program</a:t>
            </a:r>
          </a:p>
        </p:txBody>
      </p:sp>
      <p:graphicFrame>
        <p:nvGraphicFramePr>
          <p:cNvPr id="4" name="Table 3"/>
          <p:cNvGraphicFramePr>
            <a:graphicFrameLocks noGrp="1"/>
          </p:cNvGraphicFramePr>
          <p:nvPr>
            <p:extLst>
              <p:ext uri="{D42A27DB-BD31-4B8C-83A1-F6EECF244321}">
                <p14:modId xmlns:p14="http://schemas.microsoft.com/office/powerpoint/2010/main" val="1511000358"/>
              </p:ext>
            </p:extLst>
          </p:nvPr>
        </p:nvGraphicFramePr>
        <p:xfrm>
          <a:off x="502920" y="1234440"/>
          <a:ext cx="10927080" cy="475183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416052">
                <a:tc>
                  <a:txBody>
                    <a:bodyPr/>
                    <a:lstStyle/>
                    <a:p>
                      <a:pPr algn="ctr">
                        <a:defRPr sz="1100" b="1">
                          <a:solidFill>
                            <a:srgbClr val="FFFFFF"/>
                          </a:solidFill>
                        </a:defRPr>
                      </a:pPr>
                      <a:r>
                        <a:rPr sz="2000" dirty="0"/>
                        <a:t>Operation</a:t>
                      </a:r>
                    </a:p>
                  </a:txBody>
                  <a:tcPr>
                    <a:solidFill>
                      <a:srgbClr val="1E40AF"/>
                    </a:solidFill>
                  </a:tcPr>
                </a:tc>
                <a:tc>
                  <a:txBody>
                    <a:bodyPr/>
                    <a:lstStyle/>
                    <a:p>
                      <a:pPr algn="ctr">
                        <a:defRPr sz="1100" b="1">
                          <a:solidFill>
                            <a:srgbClr val="FFFFFF"/>
                          </a:solidFill>
                        </a:defRPr>
                      </a:pPr>
                      <a:r>
                        <a:rPr sz="2000"/>
                        <a:t>Data Structure / Method</a:t>
                      </a:r>
                    </a:p>
                  </a:txBody>
                  <a:tcPr>
                    <a:solidFill>
                      <a:srgbClr val="1E40AF"/>
                    </a:solidFill>
                  </a:tcPr>
                </a:tc>
                <a:tc>
                  <a:txBody>
                    <a:bodyPr/>
                    <a:lstStyle/>
                    <a:p>
                      <a:pPr algn="ctr">
                        <a:defRPr sz="1100" b="1">
                          <a:solidFill>
                            <a:srgbClr val="FFFFFF"/>
                          </a:solidFill>
                        </a:defRPr>
                      </a:pPr>
                      <a:r>
                        <a:rPr sz="2000"/>
                        <a:t>Time Complexity</a:t>
                      </a:r>
                    </a:p>
                  </a:txBody>
                  <a:tcPr>
                    <a:solidFill>
                      <a:srgbClr val="1E40AF"/>
                    </a:solidFill>
                  </a:tcPr>
                </a:tc>
                <a:tc>
                  <a:txBody>
                    <a:bodyPr/>
                    <a:lstStyle/>
                    <a:p>
                      <a:pPr algn="ctr">
                        <a:defRPr sz="1100" b="1">
                          <a:solidFill>
                            <a:srgbClr val="FFFFFF"/>
                          </a:solidFill>
                        </a:defRPr>
                      </a:pPr>
                      <a:r>
                        <a:rPr sz="2000"/>
                        <a:t>Reason</a:t>
                      </a:r>
                    </a:p>
                  </a:txBody>
                  <a:tcPr>
                    <a:solidFill>
                      <a:srgbClr val="1E40AF"/>
                    </a:solidFill>
                  </a:tcPr>
                </a:tc>
                <a:extLst>
                  <a:ext uri="{0D108BD9-81ED-4DB2-BD59-A6C34878D82A}">
                    <a16:rowId xmlns:a16="http://schemas.microsoft.com/office/drawing/2014/main" val="10000"/>
                  </a:ext>
                </a:extLst>
              </a:tr>
              <a:tr h="416052">
                <a:tc>
                  <a:txBody>
                    <a:bodyPr/>
                    <a:lstStyle/>
                    <a:p>
                      <a:pPr algn="l">
                        <a:defRPr sz="950">
                          <a:solidFill>
                            <a:srgbClr val="28303A"/>
                          </a:solidFill>
                          <a:latin typeface="Aptos"/>
                        </a:defRPr>
                      </a:pPr>
                      <a:r>
                        <a:rPr sz="1400"/>
                        <a:t>Insert Lost / Found Item</a:t>
                      </a:r>
                    </a:p>
                  </a:txBody>
                  <a:tcPr>
                    <a:solidFill>
                      <a:srgbClr val="F8FAFC"/>
                    </a:solidFill>
                  </a:tcPr>
                </a:tc>
                <a:tc>
                  <a:txBody>
                    <a:bodyPr/>
                    <a:lstStyle/>
                    <a:p>
                      <a:pPr algn="l">
                        <a:defRPr sz="950">
                          <a:solidFill>
                            <a:srgbClr val="28303A"/>
                          </a:solidFill>
                          <a:latin typeface="Aptos"/>
                        </a:defRPr>
                      </a:pPr>
                      <a:r>
                        <a:rPr sz="1400"/>
                        <a:t>Singly Linked List</a:t>
                      </a:r>
                    </a:p>
                  </a:txBody>
                  <a:tcPr>
                    <a:solidFill>
                      <a:srgbClr val="F8FAFC"/>
                    </a:solidFill>
                  </a:tcPr>
                </a:tc>
                <a:tc>
                  <a:txBody>
                    <a:bodyPr/>
                    <a:lstStyle/>
                    <a:p>
                      <a:pPr algn="ctr">
                        <a:defRPr sz="950">
                          <a:solidFill>
                            <a:srgbClr val="28303A"/>
                          </a:solidFill>
                          <a:latin typeface="Aptos"/>
                        </a:defRPr>
                      </a:pPr>
                      <a:r>
                        <a:rPr sz="1400"/>
                        <a:t>O(n)</a:t>
                      </a:r>
                    </a:p>
                  </a:txBody>
                  <a:tcPr>
                    <a:solidFill>
                      <a:srgbClr val="F8FAFC"/>
                    </a:solidFill>
                  </a:tcPr>
                </a:tc>
                <a:tc>
                  <a:txBody>
                    <a:bodyPr/>
                    <a:lstStyle/>
                    <a:p>
                      <a:pPr algn="l">
                        <a:defRPr sz="950">
                          <a:solidFill>
                            <a:srgbClr val="28303A"/>
                          </a:solidFill>
                          <a:latin typeface="Aptos"/>
                        </a:defRPr>
                      </a:pPr>
                      <a:r>
                        <a:rPr sz="1400"/>
                        <a:t>Current code traverses to the last node.</a:t>
                      </a:r>
                    </a:p>
                  </a:txBody>
                  <a:tcPr>
                    <a:solidFill>
                      <a:srgbClr val="F8FAFC"/>
                    </a:solidFill>
                  </a:tcPr>
                </a:tc>
                <a:extLst>
                  <a:ext uri="{0D108BD9-81ED-4DB2-BD59-A6C34878D82A}">
                    <a16:rowId xmlns:a16="http://schemas.microsoft.com/office/drawing/2014/main" val="10001"/>
                  </a:ext>
                </a:extLst>
              </a:tr>
              <a:tr h="416052">
                <a:tc>
                  <a:txBody>
                    <a:bodyPr/>
                    <a:lstStyle/>
                    <a:p>
                      <a:pPr algn="l">
                        <a:defRPr sz="950">
                          <a:solidFill>
                            <a:srgbClr val="28303A"/>
                          </a:solidFill>
                          <a:latin typeface="Aptos"/>
                        </a:defRPr>
                      </a:pPr>
                      <a:r>
                        <a:rPr sz="1400"/>
                        <a:t>Hash Insert</a:t>
                      </a:r>
                    </a:p>
                  </a:txBody>
                  <a:tcPr>
                    <a:solidFill>
                      <a:srgbClr val="FFFFFF"/>
                    </a:solidFill>
                  </a:tcPr>
                </a:tc>
                <a:tc>
                  <a:txBody>
                    <a:bodyPr/>
                    <a:lstStyle/>
                    <a:p>
                      <a:pPr algn="l">
                        <a:defRPr sz="950">
                          <a:solidFill>
                            <a:srgbClr val="28303A"/>
                          </a:solidFill>
                          <a:latin typeface="Aptos"/>
                        </a:defRPr>
                      </a:pPr>
                      <a:r>
                        <a:rPr sz="1400"/>
                        <a:t>Hash Table + Chaining</a:t>
                      </a:r>
                    </a:p>
                  </a:txBody>
                  <a:tcPr>
                    <a:solidFill>
                      <a:srgbClr val="FFFFFF"/>
                    </a:solidFill>
                  </a:tcPr>
                </a:tc>
                <a:tc>
                  <a:txBody>
                    <a:bodyPr/>
                    <a:lstStyle/>
                    <a:p>
                      <a:pPr algn="ctr">
                        <a:defRPr sz="950">
                          <a:solidFill>
                            <a:srgbClr val="28303A"/>
                          </a:solidFill>
                          <a:latin typeface="Aptos"/>
                        </a:defRPr>
                      </a:pPr>
                      <a:r>
                        <a:rPr sz="1400"/>
                        <a:t>O(1) average</a:t>
                      </a:r>
                    </a:p>
                  </a:txBody>
                  <a:tcPr>
                    <a:solidFill>
                      <a:srgbClr val="FFFFFF"/>
                    </a:solidFill>
                  </a:tcPr>
                </a:tc>
                <a:tc>
                  <a:txBody>
                    <a:bodyPr/>
                    <a:lstStyle/>
                    <a:p>
                      <a:pPr algn="l">
                        <a:defRPr sz="950">
                          <a:solidFill>
                            <a:srgbClr val="28303A"/>
                          </a:solidFill>
                          <a:latin typeface="Aptos"/>
                        </a:defRPr>
                      </a:pPr>
                      <a:r>
                        <a:rPr sz="1400"/>
                        <a:t>Bucket index is computed directly from ID.</a:t>
                      </a:r>
                    </a:p>
                  </a:txBody>
                  <a:tcPr>
                    <a:solidFill>
                      <a:srgbClr val="FFFFFF"/>
                    </a:solidFill>
                  </a:tcPr>
                </a:tc>
                <a:extLst>
                  <a:ext uri="{0D108BD9-81ED-4DB2-BD59-A6C34878D82A}">
                    <a16:rowId xmlns:a16="http://schemas.microsoft.com/office/drawing/2014/main" val="10002"/>
                  </a:ext>
                </a:extLst>
              </a:tr>
              <a:tr h="416052">
                <a:tc>
                  <a:txBody>
                    <a:bodyPr/>
                    <a:lstStyle/>
                    <a:p>
                      <a:pPr algn="l">
                        <a:defRPr sz="950">
                          <a:solidFill>
                            <a:srgbClr val="28303A"/>
                          </a:solidFill>
                          <a:latin typeface="Aptos"/>
                        </a:defRPr>
                      </a:pPr>
                      <a:r>
                        <a:rPr sz="1400" dirty="0"/>
                        <a:t>Search by ID</a:t>
                      </a:r>
                    </a:p>
                  </a:txBody>
                  <a:tcPr>
                    <a:solidFill>
                      <a:srgbClr val="F8FAFC"/>
                    </a:solidFill>
                  </a:tcPr>
                </a:tc>
                <a:tc>
                  <a:txBody>
                    <a:bodyPr/>
                    <a:lstStyle/>
                    <a:p>
                      <a:pPr algn="l">
                        <a:defRPr sz="950">
                          <a:solidFill>
                            <a:srgbClr val="28303A"/>
                          </a:solidFill>
                          <a:latin typeface="Aptos"/>
                        </a:defRPr>
                      </a:pPr>
                      <a:r>
                        <a:rPr sz="1400"/>
                        <a:t>Hash Table + Chaining</a:t>
                      </a:r>
                    </a:p>
                  </a:txBody>
                  <a:tcPr>
                    <a:solidFill>
                      <a:srgbClr val="F8FAFC"/>
                    </a:solidFill>
                  </a:tcPr>
                </a:tc>
                <a:tc>
                  <a:txBody>
                    <a:bodyPr/>
                    <a:lstStyle/>
                    <a:p>
                      <a:pPr algn="ctr">
                        <a:defRPr sz="950">
                          <a:solidFill>
                            <a:srgbClr val="28303A"/>
                          </a:solidFill>
                          <a:latin typeface="Aptos"/>
                        </a:defRPr>
                      </a:pPr>
                      <a:r>
                        <a:rPr sz="1400"/>
                        <a:t>O(1) average</a:t>
                      </a:r>
                    </a:p>
                  </a:txBody>
                  <a:tcPr>
                    <a:solidFill>
                      <a:srgbClr val="F8FAFC"/>
                    </a:solidFill>
                  </a:tcPr>
                </a:tc>
                <a:tc>
                  <a:txBody>
                    <a:bodyPr/>
                    <a:lstStyle/>
                    <a:p>
                      <a:pPr algn="l">
                        <a:defRPr sz="950">
                          <a:solidFill>
                            <a:srgbClr val="28303A"/>
                          </a:solidFill>
                          <a:latin typeface="Aptos"/>
                        </a:defRPr>
                      </a:pPr>
                      <a:r>
                        <a:rPr sz="1400"/>
                        <a:t>Direct bucket access; chain traversal on collision.</a:t>
                      </a:r>
                    </a:p>
                  </a:txBody>
                  <a:tcPr>
                    <a:solidFill>
                      <a:srgbClr val="F8FAFC"/>
                    </a:solidFill>
                  </a:tcPr>
                </a:tc>
                <a:extLst>
                  <a:ext uri="{0D108BD9-81ED-4DB2-BD59-A6C34878D82A}">
                    <a16:rowId xmlns:a16="http://schemas.microsoft.com/office/drawing/2014/main" val="10003"/>
                  </a:ext>
                </a:extLst>
              </a:tr>
              <a:tr h="416052">
                <a:tc>
                  <a:txBody>
                    <a:bodyPr/>
                    <a:lstStyle/>
                    <a:p>
                      <a:pPr algn="l">
                        <a:defRPr sz="950">
                          <a:solidFill>
                            <a:srgbClr val="28303A"/>
                          </a:solidFill>
                          <a:latin typeface="Aptos"/>
                        </a:defRPr>
                      </a:pPr>
                      <a:r>
                        <a:rPr sz="1400" dirty="0"/>
                        <a:t>Search by Name / Category / Location</a:t>
                      </a:r>
                    </a:p>
                  </a:txBody>
                  <a:tcPr>
                    <a:solidFill>
                      <a:srgbClr val="FFFFFF"/>
                    </a:solidFill>
                  </a:tcPr>
                </a:tc>
                <a:tc>
                  <a:txBody>
                    <a:bodyPr/>
                    <a:lstStyle/>
                    <a:p>
                      <a:pPr algn="l">
                        <a:defRPr sz="950">
                          <a:solidFill>
                            <a:srgbClr val="28303A"/>
                          </a:solidFill>
                          <a:latin typeface="Aptos"/>
                        </a:defRPr>
                      </a:pPr>
                      <a:r>
                        <a:rPr sz="1400" dirty="0"/>
                        <a:t>Linked-list traversal</a:t>
                      </a:r>
                    </a:p>
                  </a:txBody>
                  <a:tcPr>
                    <a:solidFill>
                      <a:srgbClr val="FFFFFF"/>
                    </a:solidFill>
                  </a:tcPr>
                </a:tc>
                <a:tc>
                  <a:txBody>
                    <a:bodyPr/>
                    <a:lstStyle/>
                    <a:p>
                      <a:pPr algn="ctr">
                        <a:defRPr sz="950">
                          <a:solidFill>
                            <a:srgbClr val="28303A"/>
                          </a:solidFill>
                          <a:latin typeface="Aptos"/>
                        </a:defRPr>
                      </a:pPr>
                      <a:r>
                        <a:rPr sz="1400"/>
                        <a:t>O(n)</a:t>
                      </a:r>
                    </a:p>
                  </a:txBody>
                  <a:tcPr>
                    <a:solidFill>
                      <a:srgbClr val="FFFFFF"/>
                    </a:solidFill>
                  </a:tcPr>
                </a:tc>
                <a:tc>
                  <a:txBody>
                    <a:bodyPr/>
                    <a:lstStyle/>
                    <a:p>
                      <a:pPr algn="l">
                        <a:defRPr sz="950">
                          <a:solidFill>
                            <a:srgbClr val="28303A"/>
                          </a:solidFill>
                          <a:latin typeface="Aptos"/>
                        </a:defRPr>
                      </a:pPr>
                      <a:r>
                        <a:rPr sz="1400"/>
                        <a:t>Records are checked sequentially.</a:t>
                      </a:r>
                    </a:p>
                  </a:txBody>
                  <a:tcPr>
                    <a:solidFill>
                      <a:srgbClr val="FFFFFF"/>
                    </a:solidFill>
                  </a:tcPr>
                </a:tc>
                <a:extLst>
                  <a:ext uri="{0D108BD9-81ED-4DB2-BD59-A6C34878D82A}">
                    <a16:rowId xmlns:a16="http://schemas.microsoft.com/office/drawing/2014/main" val="10004"/>
                  </a:ext>
                </a:extLst>
              </a:tr>
              <a:tr h="416052">
                <a:tc>
                  <a:txBody>
                    <a:bodyPr/>
                    <a:lstStyle/>
                    <a:p>
                      <a:pPr algn="l">
                        <a:defRPr sz="950">
                          <a:solidFill>
                            <a:srgbClr val="28303A"/>
                          </a:solidFill>
                          <a:latin typeface="Aptos"/>
                        </a:defRPr>
                      </a:pPr>
                      <a:r>
                        <a:rPr sz="1400"/>
                        <a:t>Display Lost / Found</a:t>
                      </a:r>
                    </a:p>
                  </a:txBody>
                  <a:tcPr>
                    <a:solidFill>
                      <a:srgbClr val="F8FAFC"/>
                    </a:solidFill>
                  </a:tcPr>
                </a:tc>
                <a:tc>
                  <a:txBody>
                    <a:bodyPr/>
                    <a:lstStyle/>
                    <a:p>
                      <a:pPr algn="l">
                        <a:defRPr sz="950">
                          <a:solidFill>
                            <a:srgbClr val="28303A"/>
                          </a:solidFill>
                          <a:latin typeface="Aptos"/>
                        </a:defRPr>
                      </a:pPr>
                      <a:r>
                        <a:rPr sz="1400" dirty="0"/>
                        <a:t>Linked List</a:t>
                      </a:r>
                    </a:p>
                  </a:txBody>
                  <a:tcPr>
                    <a:solidFill>
                      <a:srgbClr val="F8FAFC"/>
                    </a:solidFill>
                  </a:tcPr>
                </a:tc>
                <a:tc>
                  <a:txBody>
                    <a:bodyPr/>
                    <a:lstStyle/>
                    <a:p>
                      <a:pPr algn="ctr">
                        <a:defRPr sz="950">
                          <a:solidFill>
                            <a:srgbClr val="28303A"/>
                          </a:solidFill>
                          <a:latin typeface="Aptos"/>
                        </a:defRPr>
                      </a:pPr>
                      <a:r>
                        <a:rPr sz="1400"/>
                        <a:t>O(n)</a:t>
                      </a:r>
                    </a:p>
                  </a:txBody>
                  <a:tcPr>
                    <a:solidFill>
                      <a:srgbClr val="F8FAFC"/>
                    </a:solidFill>
                  </a:tcPr>
                </a:tc>
                <a:tc>
                  <a:txBody>
                    <a:bodyPr/>
                    <a:lstStyle/>
                    <a:p>
                      <a:pPr algn="l">
                        <a:defRPr sz="950">
                          <a:solidFill>
                            <a:srgbClr val="28303A"/>
                          </a:solidFill>
                          <a:latin typeface="Aptos"/>
                        </a:defRPr>
                      </a:pPr>
                      <a:r>
                        <a:rPr sz="1400"/>
                        <a:t>Every node is traversed and displayed.</a:t>
                      </a:r>
                    </a:p>
                  </a:txBody>
                  <a:tcPr>
                    <a:solidFill>
                      <a:srgbClr val="F8FAFC"/>
                    </a:solidFill>
                  </a:tcPr>
                </a:tc>
                <a:extLst>
                  <a:ext uri="{0D108BD9-81ED-4DB2-BD59-A6C34878D82A}">
                    <a16:rowId xmlns:a16="http://schemas.microsoft.com/office/drawing/2014/main" val="10005"/>
                  </a:ext>
                </a:extLst>
              </a:tr>
              <a:tr h="416052">
                <a:tc>
                  <a:txBody>
                    <a:bodyPr/>
                    <a:lstStyle/>
                    <a:p>
                      <a:pPr algn="l">
                        <a:defRPr sz="950">
                          <a:solidFill>
                            <a:srgbClr val="28303A"/>
                          </a:solidFill>
                          <a:latin typeface="Aptos"/>
                        </a:defRPr>
                      </a:pPr>
                      <a:r>
                        <a:rPr sz="1400"/>
                        <a:t>Find Possible Match</a:t>
                      </a:r>
                    </a:p>
                  </a:txBody>
                  <a:tcPr>
                    <a:solidFill>
                      <a:srgbClr val="FFFFFF"/>
                    </a:solidFill>
                  </a:tcPr>
                </a:tc>
                <a:tc>
                  <a:txBody>
                    <a:bodyPr/>
                    <a:lstStyle/>
                    <a:p>
                      <a:pPr algn="l">
                        <a:defRPr sz="950">
                          <a:solidFill>
                            <a:srgbClr val="28303A"/>
                          </a:solidFill>
                          <a:latin typeface="Aptos"/>
                        </a:defRPr>
                      </a:pPr>
                      <a:r>
                        <a:rPr sz="1400" dirty="0"/>
                        <a:t>Found linked list</a:t>
                      </a:r>
                    </a:p>
                  </a:txBody>
                  <a:tcPr>
                    <a:solidFill>
                      <a:srgbClr val="FFFFFF"/>
                    </a:solidFill>
                  </a:tcPr>
                </a:tc>
                <a:tc>
                  <a:txBody>
                    <a:bodyPr/>
                    <a:lstStyle/>
                    <a:p>
                      <a:pPr algn="ctr">
                        <a:defRPr sz="950">
                          <a:solidFill>
                            <a:srgbClr val="28303A"/>
                          </a:solidFill>
                          <a:latin typeface="Aptos"/>
                        </a:defRPr>
                      </a:pPr>
                      <a:r>
                        <a:rPr sz="1400"/>
                        <a:t>O(m)</a:t>
                      </a:r>
                    </a:p>
                  </a:txBody>
                  <a:tcPr>
                    <a:solidFill>
                      <a:srgbClr val="FFFFFF"/>
                    </a:solidFill>
                  </a:tcPr>
                </a:tc>
                <a:tc>
                  <a:txBody>
                    <a:bodyPr/>
                    <a:lstStyle/>
                    <a:p>
                      <a:pPr algn="l">
                        <a:defRPr sz="950">
                          <a:solidFill>
                            <a:srgbClr val="28303A"/>
                          </a:solidFill>
                          <a:latin typeface="Aptos"/>
                        </a:defRPr>
                      </a:pPr>
                      <a:r>
                        <a:rPr sz="1400"/>
                        <a:t>Every active found record is checked; m = found records.</a:t>
                      </a:r>
                    </a:p>
                  </a:txBody>
                  <a:tcPr>
                    <a:solidFill>
                      <a:srgbClr val="FFFFFF"/>
                    </a:solidFill>
                  </a:tcPr>
                </a:tc>
                <a:extLst>
                  <a:ext uri="{0D108BD9-81ED-4DB2-BD59-A6C34878D82A}">
                    <a16:rowId xmlns:a16="http://schemas.microsoft.com/office/drawing/2014/main" val="10006"/>
                  </a:ext>
                </a:extLst>
              </a:tr>
              <a:tr h="416052">
                <a:tc>
                  <a:txBody>
                    <a:bodyPr/>
                    <a:lstStyle/>
                    <a:p>
                      <a:pPr algn="l">
                        <a:defRPr sz="950">
                          <a:solidFill>
                            <a:srgbClr val="28303A"/>
                          </a:solidFill>
                          <a:latin typeface="Aptos"/>
                        </a:defRPr>
                      </a:pPr>
                      <a:r>
                        <a:rPr sz="1400"/>
                        <a:t>Statistics</a:t>
                      </a:r>
                    </a:p>
                  </a:txBody>
                  <a:tcPr>
                    <a:solidFill>
                      <a:srgbClr val="F8FAFC"/>
                    </a:solidFill>
                  </a:tcPr>
                </a:tc>
                <a:tc>
                  <a:txBody>
                    <a:bodyPr/>
                    <a:lstStyle/>
                    <a:p>
                      <a:pPr algn="l">
                        <a:defRPr sz="950">
                          <a:solidFill>
                            <a:srgbClr val="28303A"/>
                          </a:solidFill>
                          <a:latin typeface="Aptos"/>
                        </a:defRPr>
                      </a:pPr>
                      <a:r>
                        <a:rPr sz="1400"/>
                        <a:t>Two linked-list traversals</a:t>
                      </a:r>
                    </a:p>
                  </a:txBody>
                  <a:tcPr>
                    <a:solidFill>
                      <a:srgbClr val="F8FAFC"/>
                    </a:solidFill>
                  </a:tcPr>
                </a:tc>
                <a:tc>
                  <a:txBody>
                    <a:bodyPr/>
                    <a:lstStyle/>
                    <a:p>
                      <a:pPr algn="ctr">
                        <a:defRPr sz="950">
                          <a:solidFill>
                            <a:srgbClr val="28303A"/>
                          </a:solidFill>
                          <a:latin typeface="Aptos"/>
                        </a:defRPr>
                      </a:pPr>
                      <a:r>
                        <a:rPr sz="1400"/>
                        <a:t>O(n + m)</a:t>
                      </a:r>
                    </a:p>
                  </a:txBody>
                  <a:tcPr>
                    <a:solidFill>
                      <a:srgbClr val="F8FAFC"/>
                    </a:solidFill>
                  </a:tcPr>
                </a:tc>
                <a:tc>
                  <a:txBody>
                    <a:bodyPr/>
                    <a:lstStyle/>
                    <a:p>
                      <a:pPr algn="l">
                        <a:defRPr sz="950">
                          <a:solidFill>
                            <a:srgbClr val="28303A"/>
                          </a:solidFill>
                          <a:latin typeface="Aptos"/>
                        </a:defRPr>
                      </a:pPr>
                      <a:r>
                        <a:rPr sz="1400"/>
                        <a:t>All lost and found records are counted.</a:t>
                      </a:r>
                    </a:p>
                  </a:txBody>
                  <a:tcPr>
                    <a:solidFill>
                      <a:srgbClr val="F8FAFC"/>
                    </a:solidFill>
                  </a:tcPr>
                </a:tc>
                <a:extLst>
                  <a:ext uri="{0D108BD9-81ED-4DB2-BD59-A6C34878D82A}">
                    <a16:rowId xmlns:a16="http://schemas.microsoft.com/office/drawing/2014/main" val="10007"/>
                  </a:ext>
                </a:extLst>
              </a:tr>
              <a:tr h="416052">
                <a:tc>
                  <a:txBody>
                    <a:bodyPr/>
                    <a:lstStyle/>
                    <a:p>
                      <a:pPr algn="l">
                        <a:defRPr sz="950">
                          <a:solidFill>
                            <a:srgbClr val="28303A"/>
                          </a:solidFill>
                          <a:latin typeface="Aptos"/>
                        </a:defRPr>
                      </a:pPr>
                      <a:r>
                        <a:rPr sz="1400"/>
                        <a:t>Save / Load File</a:t>
                      </a:r>
                    </a:p>
                  </a:txBody>
                  <a:tcPr>
                    <a:solidFill>
                      <a:srgbClr val="FFFFFF"/>
                    </a:solidFill>
                  </a:tcPr>
                </a:tc>
                <a:tc>
                  <a:txBody>
                    <a:bodyPr/>
                    <a:lstStyle/>
                    <a:p>
                      <a:pPr algn="l">
                        <a:defRPr sz="950">
                          <a:solidFill>
                            <a:srgbClr val="28303A"/>
                          </a:solidFill>
                          <a:latin typeface="Aptos"/>
                        </a:defRPr>
                      </a:pPr>
                      <a:r>
                        <a:rPr sz="1400" dirty="0"/>
                        <a:t>File + Linked List</a:t>
                      </a:r>
                    </a:p>
                  </a:txBody>
                  <a:tcPr>
                    <a:solidFill>
                      <a:srgbClr val="FFFFFF"/>
                    </a:solidFill>
                  </a:tcPr>
                </a:tc>
                <a:tc>
                  <a:txBody>
                    <a:bodyPr/>
                    <a:lstStyle/>
                    <a:p>
                      <a:pPr algn="ctr">
                        <a:defRPr sz="950">
                          <a:solidFill>
                            <a:srgbClr val="28303A"/>
                          </a:solidFill>
                          <a:latin typeface="Aptos"/>
                        </a:defRPr>
                      </a:pPr>
                      <a:r>
                        <a:rPr sz="1400"/>
                        <a:t>O(n)</a:t>
                      </a:r>
                    </a:p>
                  </a:txBody>
                  <a:tcPr>
                    <a:solidFill>
                      <a:srgbClr val="FFFFFF"/>
                    </a:solidFill>
                  </a:tcPr>
                </a:tc>
                <a:tc>
                  <a:txBody>
                    <a:bodyPr/>
                    <a:lstStyle/>
                    <a:p>
                      <a:pPr algn="l">
                        <a:defRPr sz="950">
                          <a:solidFill>
                            <a:srgbClr val="28303A"/>
                          </a:solidFill>
                          <a:latin typeface="Aptos"/>
                        </a:defRPr>
                      </a:pPr>
                      <a:r>
                        <a:rPr sz="1400"/>
                        <a:t>Each record is written/read once per file.</a:t>
                      </a:r>
                    </a:p>
                  </a:txBody>
                  <a:tcPr>
                    <a:solidFill>
                      <a:srgbClr val="FFFFFF"/>
                    </a:solidFill>
                  </a:tcPr>
                </a:tc>
                <a:extLst>
                  <a:ext uri="{0D108BD9-81ED-4DB2-BD59-A6C34878D82A}">
                    <a16:rowId xmlns:a16="http://schemas.microsoft.com/office/drawing/2014/main" val="10008"/>
                  </a:ext>
                </a:extLst>
              </a:tr>
              <a:tr h="416052">
                <a:tc>
                  <a:txBody>
                    <a:bodyPr/>
                    <a:lstStyle/>
                    <a:p>
                      <a:pPr algn="l">
                        <a:defRPr sz="950">
                          <a:solidFill>
                            <a:srgbClr val="28303A"/>
                          </a:solidFill>
                          <a:latin typeface="Aptos"/>
                        </a:defRPr>
                      </a:pPr>
                      <a:r>
                        <a:rPr sz="1400"/>
                        <a:t>Free Memory</a:t>
                      </a:r>
                    </a:p>
                  </a:txBody>
                  <a:tcPr>
                    <a:solidFill>
                      <a:srgbClr val="F8FAFC"/>
                    </a:solidFill>
                  </a:tcPr>
                </a:tc>
                <a:tc>
                  <a:txBody>
                    <a:bodyPr/>
                    <a:lstStyle/>
                    <a:p>
                      <a:pPr algn="l">
                        <a:defRPr sz="950">
                          <a:solidFill>
                            <a:srgbClr val="28303A"/>
                          </a:solidFill>
                          <a:latin typeface="Aptos"/>
                        </a:defRPr>
                      </a:pPr>
                      <a:r>
                        <a:rPr sz="1400"/>
                        <a:t>Linked Lists + Hash Nodes</a:t>
                      </a:r>
                    </a:p>
                  </a:txBody>
                  <a:tcPr>
                    <a:solidFill>
                      <a:srgbClr val="F8FAFC"/>
                    </a:solidFill>
                  </a:tcPr>
                </a:tc>
                <a:tc>
                  <a:txBody>
                    <a:bodyPr/>
                    <a:lstStyle/>
                    <a:p>
                      <a:pPr algn="ctr">
                        <a:defRPr sz="950">
                          <a:solidFill>
                            <a:srgbClr val="28303A"/>
                          </a:solidFill>
                          <a:latin typeface="Aptos"/>
                        </a:defRPr>
                      </a:pPr>
                      <a:r>
                        <a:rPr sz="1400" dirty="0"/>
                        <a:t>O(n + m)</a:t>
                      </a:r>
                    </a:p>
                  </a:txBody>
                  <a:tcPr>
                    <a:solidFill>
                      <a:srgbClr val="F8FAFC"/>
                    </a:solidFill>
                  </a:tcPr>
                </a:tc>
                <a:tc>
                  <a:txBody>
                    <a:bodyPr/>
                    <a:lstStyle/>
                    <a:p>
                      <a:pPr algn="l">
                        <a:defRPr sz="950">
                          <a:solidFill>
                            <a:srgbClr val="28303A"/>
                          </a:solidFill>
                          <a:latin typeface="Aptos"/>
                        </a:defRPr>
                      </a:pPr>
                      <a:r>
                        <a:rPr sz="1400" dirty="0"/>
                        <a:t>All allocated nodes are released.</a:t>
                      </a:r>
                    </a:p>
                  </a:txBody>
                  <a:tcPr>
                    <a:solidFill>
                      <a:srgbClr val="F8FAFC"/>
                    </a:solidFill>
                  </a:tcPr>
                </a:tc>
                <a:extLst>
                  <a:ext uri="{0D108BD9-81ED-4DB2-BD59-A6C34878D82A}">
                    <a16:rowId xmlns:a16="http://schemas.microsoft.com/office/drawing/2014/main" val="10009"/>
                  </a:ext>
                </a:extLst>
              </a:tr>
            </a:tbl>
          </a:graphicData>
        </a:graphic>
      </p:graphicFrame>
      <p:sp>
        <p:nvSpPr>
          <p:cNvPr id="5" name="Rounded Rectangle 4"/>
          <p:cNvSpPr/>
          <p:nvPr/>
        </p:nvSpPr>
        <p:spPr>
          <a:xfrm>
            <a:off x="502920" y="5559552"/>
            <a:ext cx="10927080" cy="658368"/>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5669280"/>
            <a:ext cx="10515600" cy="411480"/>
          </a:xfrm>
          <a:prstGeom prst="rect">
            <a:avLst/>
          </a:prstGeom>
          <a:noFill/>
        </p:spPr>
        <p:txBody>
          <a:bodyPr wrap="none">
            <a:spAutoFit/>
          </a:bodyPr>
          <a:lstStyle/>
          <a:p>
            <a:pPr algn="ctr">
              <a:defRPr sz="1050" b="1">
                <a:solidFill>
                  <a:srgbClr val="1E40AF"/>
                </a:solidFill>
              </a:defRPr>
            </a:pPr>
            <a:r>
              <a:rPr dirty="0"/>
              <a:t>Important: Hash search is O(1) on average but can become O(n) in the worst case if many IDs collide into one bucket. Matching scans the found list, so its complexity is 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165</TotalTime>
  <Words>3030</Words>
  <Application>Microsoft Office PowerPoint</Application>
  <PresentationFormat>Widescreen</PresentationFormat>
  <Paragraphs>450</Paragraphs>
  <Slides>26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REHANSHI KINGE</dc:creator>
  <cp:keywords/>
  <dc:description>generated using python-pptx</dc:description>
  <cp:lastModifiedBy>Eka Shastri</cp:lastModifiedBy>
  <cp:revision>9</cp:revision>
  <dcterms:created xsi:type="dcterms:W3CDTF">2013-01-27T09:14:16Z</dcterms:created>
  <dcterms:modified xsi:type="dcterms:W3CDTF">2026-09-28T10:38:10Z</dcterms:modified>
  <cp:category/>
</cp:coreProperties>
</file>